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we are team Kravii, formerly called Agentic Wallet. We built a wallet that an AI agent can run, and that still cannot lose your money, even if the agent is fooled. This is our entry for Topic F, Agent Wallet. In the next ten minutes: the problem, how the design works, how a payment flows, what we did to test it, and where it is still weak.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businesses pay contractors in stages: a deposit, a delivery, an acceptance test, a retention payment. Today that is trust, chat messages and bank transfers. Disputes are slow, and the buyer often pays before seeing the work.</a:t>
            </a:r>
          </a:p>
          <a:p/>
          <a:p>
            <a:r>
              <a:t>AI agents could do this paperwork for us. But an agent that can move money is dangerous. It can be prompt-injected by a document, it can hallucinate an amount, and its key can leak. If the safety rules live in the agent's prompt, one clever message breaks them.</a:t>
            </a:r>
          </a:p>
          <a:p/>
          <a:p>
            <a:r>
              <a:t>So the question for this topic is: how do you let an agent act, while the rules are enforced by something the agent cannot talk its way past?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owns the wallet. The agent only holds a session key. The contract decides.</a:t>
            </a:r>
          </a:p>
          <a:p/>
          <a:p>
            <a:r>
              <a:t>The session key is scoped: it expires, it has a per-transaction cap and a daily cap, and it can pay only addresses on an allowlist. The owner key never goes to the agent. Anything outside those limits needs the user's own click.</a:t>
            </a:r>
          </a:p>
          <a:p/>
          <a:p>
            <a:r>
              <a:t>We call the actions tiers. Tier 0, read. Tier 1, the agent proposes and a human approves. Tier 2, the agent acts alone, but only inside the on-chain caps. Tier 3, emergency: the agent, an approver or the owner can pause the wallet, and only the owner can unpause.</a:t>
            </a:r>
          </a:p>
          <a:p/>
          <a:p>
            <a:r>
              <a:t>The point: a manipulated agent can be wrong, but it cannot be wrong with more money than the contract allows.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system. The user talks to an AI chat in the web app or in our desktop app. The agent has tools, and every tool call passes Guard 1, an off-chain policy engine that routes by tier, scans for injection and checks the allowlist.</a:t>
            </a:r>
          </a:p>
          <a:p/>
          <a:p>
            <a:r>
              <a:t>Then Guard 2: the AgentWallet smart contract, one per user, which checks the same rules again on chain. A bug or jailbreak can get past Guard 1, but the contract still refuses.</a:t>
            </a:r>
          </a:p>
          <a:p/>
          <a:p>
            <a:r>
              <a:t>Money in the real world is a simulated bank ledger in Postgres. When a deal is approved, the server debits the bank, mints a bank-backed token for exactly that amount, and locks it in an escrow contract. When the escrow pays out, the seller's bank is credited. The chain is a private Hyperledger Besu network. Only our app can write, but anyone can read it through a public explorer.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buyer tells the agent: hire this designer, three milestones. The agent drafts the deal. Nothing is signed, and no money moves, until the buyer presses Approve and Lock.</a:t>
            </a:r>
          </a:p>
          <a:p/>
          <a:p>
            <a:r>
              <a:t>Then the FileEscrow contract runs a fair exchange between strangers. The seller delivers an encrypted file, and its hash is recorded on chain. The buyer sees a watermarked preview. The key is released only after the buyer approves, or after the review window ends. Then the escrow pays the seller, and the seller's bank account is credited.</a:t>
            </a:r>
          </a:p>
          <a:p/>
          <a:p>
            <a:r>
              <a:t>People without an account can join through a private link, protected by a one-time code and a password. A seller's payout destination is set once and then locked, so a leaked link cannot redirect money.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strongest evidence. We took the agent's own key and called a transfer to a random address, skipping the AI and the policy engine entirely. The contract reverted it with RecipientNotAllowed. This is a real transaction on our chain, and you can check it yourself with one command against our read-only RPC.</a:t>
            </a:r>
          </a:p>
          <a:p/>
          <a:p>
            <a:r>
              <a:t>We also fixed an early bug where the agent could approve a file twice and skip the challenge window. Now the contract lets the agent approve only a delivered milestone.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is more than a contract. There is a desktop app for Windows and macOS, version 0.6.3, with its own signed chain of deals per device, an AI chat with web search, and MCP tools. There are company accounts where a group of signers controls the money, group payouts by vote, national-ID style KYC, top-ups by PromptPay and card in test mode, split payment, public job links where anyone can apply, and a neutral AI arbiter built from several models from different providers.</a:t>
            </a:r>
          </a:p>
          <a:p/>
          <a:p>
            <a:r>
              <a:t>Everything runs on test money. No real funds or bank accounts are involved.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team member took the role of security reviewer and attacked the system, rather than only reading it. The method: write a test that reproduces the bug first, then fix it.</a:t>
            </a:r>
          </a:p>
          <a:p/>
          <a:p>
            <a:r>
              <a:t>Results: 115 contract tests including property tests that try every move on every state of an escrow; 15 web security tests; and a 22-step end-to-end smoke test that runs the main money flow on a throwaway stack. All of it runs in continuous integration on GitHub.</a:t>
            </a:r>
          </a:p>
          <a:p/>
          <a:p>
            <a:r>
              <a:t>What it found: a High bug where a refund paid twice after a split ruling; a High bug where a company member who was not a signer could spend the company's money; and a silent arbiter who could lock money forever, for which we added a seven-day timeout. These fixes are in a pull request awaiting merge.</a:t>
            </a:r>
          </a:p>
          <a:p/>
          <a:p>
            <a:r>
              <a:t>We also found that one desktop route could add a payee without a signer check. We found it in code review, not by exploiting it, and it is recorded as open.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honest about limits. In the demo, the server holds the owner keys. Production needs keys on the user's device or a multisig. The chain has one validator on a home computer. Production needs several, run by different parties. Disputes are switched off in the current build, so a buyer's protection against bad work is not approving, and a timeout that refunds a silent seller is the proposed fix. Desktop builds are unsigned, so updates need real code signing. All of these are written down in our security document as risks R1 to R15.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recap: the agent proposes, the user approves, and the contract enforces. The rules do not live in a prompt. They live where the agent cannot argue with them. Everything you saw is on a public chain you can check yourself. Thank you. The app, the explorer and the evidence are linked on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58368"/>
            <a:ext cx="3840480" cy="502920"/>
          </a:xfrm>
          <a:prstGeom prst="rect">
            <a:avLst/>
          </a:prstGeom>
          <a:noFill/>
        </p:spPr>
        <p:txBody>
          <a:bodyPr wrap="square" lIns="0" rIns="0" tIns="0" bIns="0" anchor="t">
            <a:spAutoFit/>
          </a:bodyPr>
          <a:lstStyle/>
          <a:p>
            <a:pPr algn="l">
              <a:spcAft>
                <a:spcPts val="0"/>
              </a:spcAft>
              <a:defRPr sz="1800" b="1">
                <a:solidFill>
                  <a:srgbClr val="008F97"/>
                </a:solidFill>
                <a:latin typeface="Aptos Display"/>
              </a:defRPr>
            </a:pPr>
            <a:r>
              <a:t>KRAVII</a:t>
            </a:r>
          </a:p>
        </p:txBody>
      </p:sp>
      <p:sp>
        <p:nvSpPr>
          <p:cNvPr id="3" name="TextBox 2"/>
          <p:cNvSpPr txBox="1"/>
          <p:nvPr/>
        </p:nvSpPr>
        <p:spPr>
          <a:xfrm>
            <a:off x="658368" y="1399032"/>
            <a:ext cx="9875520" cy="1600200"/>
          </a:xfrm>
          <a:prstGeom prst="rect">
            <a:avLst/>
          </a:prstGeom>
          <a:noFill/>
        </p:spPr>
        <p:txBody>
          <a:bodyPr wrap="square" lIns="0" rIns="0" tIns="0" bIns="0" anchor="t">
            <a:spAutoFit/>
          </a:bodyPr>
          <a:lstStyle/>
          <a:p>
            <a:pPr algn="l">
              <a:spcAft>
                <a:spcPts val="0"/>
              </a:spcAft>
              <a:defRPr sz="4100" b="1">
                <a:solidFill>
                  <a:srgbClr val="0C1E35"/>
                </a:solidFill>
                <a:latin typeface="Aptos Display"/>
              </a:defRPr>
            </a:pPr>
            <a:r>
              <a:t>An AI agent that runs a wallet,</a:t>
            </a:r>
            <a:br/>
            <a:r>
              <a:t>and cannot lose your money</a:t>
            </a:r>
          </a:p>
        </p:txBody>
      </p:sp>
      <p:sp>
        <p:nvSpPr>
          <p:cNvPr id="4" name="TextBox 3"/>
          <p:cNvSpPr txBox="1"/>
          <p:nvPr/>
        </p:nvSpPr>
        <p:spPr>
          <a:xfrm>
            <a:off x="685800" y="3319272"/>
            <a:ext cx="6400800" cy="274320"/>
          </a:xfrm>
          <a:prstGeom prst="rect">
            <a:avLst/>
          </a:prstGeom>
          <a:noFill/>
        </p:spPr>
        <p:txBody>
          <a:bodyPr wrap="square" lIns="0" rIns="0" tIns="0" bIns="0" anchor="t">
            <a:spAutoFit/>
          </a:bodyPr>
          <a:lstStyle/>
          <a:p>
            <a:pPr algn="l">
              <a:spcAft>
                <a:spcPts val="0"/>
              </a:spcAft>
              <a:defRPr sz="1500" b="1">
                <a:solidFill>
                  <a:srgbClr val="536270"/>
                </a:solidFill>
                <a:latin typeface="Aptos"/>
              </a:defRPr>
            </a:pPr>
            <a:r>
              <a:t>TEAM KRAVII  ·  FINTECHATHON 2026  ·  TOPIC F</a:t>
            </a:r>
          </a:p>
        </p:txBody>
      </p:sp>
      <p:sp>
        <p:nvSpPr>
          <p:cNvPr id="5" name="TextBox 4"/>
          <p:cNvSpPr txBox="1"/>
          <p:nvPr/>
        </p:nvSpPr>
        <p:spPr>
          <a:xfrm>
            <a:off x="685800" y="3703320"/>
            <a:ext cx="3840480" cy="274320"/>
          </a:xfrm>
          <a:prstGeom prst="rect">
            <a:avLst/>
          </a:prstGeom>
          <a:noFill/>
        </p:spPr>
        <p:txBody>
          <a:bodyPr wrap="square" lIns="0" rIns="0" tIns="0" bIns="0" anchor="t">
            <a:spAutoFit/>
          </a:bodyPr>
          <a:lstStyle/>
          <a:p>
            <a:pPr algn="l">
              <a:spcAft>
                <a:spcPts val="0"/>
              </a:spcAft>
              <a:defRPr sz="1600" b="0">
                <a:solidFill>
                  <a:srgbClr val="536270"/>
                </a:solidFill>
                <a:latin typeface="Aptos"/>
              </a:defRPr>
            </a:pPr>
            <a:r>
              <a:t>formerly Agentic Wallet</a:t>
            </a:r>
          </a:p>
        </p:txBody>
      </p:sp>
      <p:sp>
        <p:nvSpPr>
          <p:cNvPr id="6" name="Rounded Rectangle 5"/>
          <p:cNvSpPr/>
          <p:nvPr/>
        </p:nvSpPr>
        <p:spPr>
          <a:xfrm>
            <a:off x="8961120" y="1078992"/>
            <a:ext cx="2304288" cy="3328416"/>
          </a:xfrm>
          <a:prstGeom prst="roundRect">
            <a:avLst/>
          </a:prstGeom>
          <a:solidFill>
            <a:srgbClr val="F0F4F6"/>
          </a:solidFill>
          <a:ln w="12700">
            <a:solidFill>
              <a:srgbClr val="F0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08592" y="1572768"/>
            <a:ext cx="1600200" cy="256032"/>
          </a:xfrm>
          <a:prstGeom prst="rect">
            <a:avLst/>
          </a:prstGeom>
          <a:noFill/>
        </p:spPr>
        <p:txBody>
          <a:bodyPr wrap="square" lIns="0" rIns="0" tIns="0" bIns="0" anchor="t">
            <a:spAutoFit/>
          </a:bodyPr>
          <a:lstStyle/>
          <a:p>
            <a:pPr algn="ctr">
              <a:spcAft>
                <a:spcPts val="0"/>
              </a:spcAft>
              <a:defRPr sz="1600" b="1">
                <a:solidFill>
                  <a:srgbClr val="0C1E35"/>
                </a:solidFill>
                <a:latin typeface="Aptos"/>
              </a:defRPr>
            </a:pPr>
            <a:r>
              <a:t>USER</a:t>
            </a:r>
          </a:p>
        </p:txBody>
      </p:sp>
      <p:sp>
        <p:nvSpPr>
          <p:cNvPr id="8" name="TextBox 7"/>
          <p:cNvSpPr txBox="1"/>
          <p:nvPr/>
        </p:nvSpPr>
        <p:spPr>
          <a:xfrm>
            <a:off x="9308592" y="2496312"/>
            <a:ext cx="1600200" cy="256032"/>
          </a:xfrm>
          <a:prstGeom prst="rect">
            <a:avLst/>
          </a:prstGeom>
          <a:noFill/>
        </p:spPr>
        <p:txBody>
          <a:bodyPr wrap="square" lIns="0" rIns="0" tIns="0" bIns="0" anchor="t">
            <a:spAutoFit/>
          </a:bodyPr>
          <a:lstStyle/>
          <a:p>
            <a:pPr algn="ctr">
              <a:spcAft>
                <a:spcPts val="0"/>
              </a:spcAft>
              <a:defRPr sz="1600" b="1">
                <a:solidFill>
                  <a:srgbClr val="0C1E35"/>
                </a:solidFill>
                <a:latin typeface="Aptos"/>
              </a:defRPr>
            </a:pPr>
            <a:r>
              <a:t>AGENT</a:t>
            </a:r>
          </a:p>
        </p:txBody>
      </p:sp>
      <p:sp>
        <p:nvSpPr>
          <p:cNvPr id="9" name="TextBox 8"/>
          <p:cNvSpPr txBox="1"/>
          <p:nvPr/>
        </p:nvSpPr>
        <p:spPr>
          <a:xfrm>
            <a:off x="9162288" y="3438144"/>
            <a:ext cx="1874519" cy="256032"/>
          </a:xfrm>
          <a:prstGeom prst="rect">
            <a:avLst/>
          </a:prstGeom>
          <a:noFill/>
        </p:spPr>
        <p:txBody>
          <a:bodyPr wrap="square" lIns="0" rIns="0" tIns="0" bIns="0" anchor="t">
            <a:spAutoFit/>
          </a:bodyPr>
          <a:lstStyle/>
          <a:p>
            <a:pPr algn="ctr">
              <a:spcAft>
                <a:spcPts val="0"/>
              </a:spcAft>
              <a:defRPr sz="1600" b="1">
                <a:solidFill>
                  <a:srgbClr val="008F97"/>
                </a:solidFill>
                <a:latin typeface="Aptos"/>
              </a:defRPr>
            </a:pPr>
            <a:r>
              <a:t>CONTRACT</a:t>
            </a:r>
          </a:p>
        </p:txBody>
      </p:sp>
      <p:cxnSp>
        <p:nvCxnSpPr>
          <p:cNvPr id="10" name="Connector 9"/>
          <p:cNvCxnSpPr/>
          <p:nvPr/>
        </p:nvCxnSpPr>
        <p:spPr>
          <a:xfrm>
            <a:off x="10113264" y="1901952"/>
            <a:ext cx="0" cy="429768"/>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113264" y="2816352"/>
            <a:ext cx="0" cy="45720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13" name="TextBox 12"/>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29184"/>
            <a:ext cx="896112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WHY PROMPTS ARE NOT A SAFETY BOUNDARY</a:t>
            </a:r>
          </a:p>
        </p:txBody>
      </p:sp>
      <p:sp>
        <p:nvSpPr>
          <p:cNvPr id="3" name="TextBox 2"/>
          <p:cNvSpPr txBox="1"/>
          <p:nvPr/>
        </p:nvSpPr>
        <p:spPr>
          <a:xfrm>
            <a:off x="612648" y="603504"/>
            <a:ext cx="10972800" cy="932688"/>
          </a:xfrm>
          <a:prstGeom prst="rect">
            <a:avLst/>
          </a:prstGeom>
          <a:noFill/>
        </p:spPr>
        <p:txBody>
          <a:bodyPr wrap="square" lIns="0" rIns="0" tIns="0" bIns="0" anchor="t">
            <a:spAutoFit/>
          </a:bodyPr>
          <a:lstStyle/>
          <a:p>
            <a:pPr algn="l">
              <a:spcAft>
                <a:spcPts val="0"/>
              </a:spcAft>
              <a:defRPr sz="3600" b="1">
                <a:solidFill>
                  <a:srgbClr val="0C1E35"/>
                </a:solidFill>
                <a:latin typeface="Aptos Display"/>
              </a:defRPr>
            </a:pPr>
            <a:r>
              <a:t>The problem</a:t>
            </a:r>
          </a:p>
        </p:txBody>
      </p:sp>
      <p:sp>
        <p:nvSpPr>
          <p:cNvPr id="4" name="Rectangle 3"/>
          <p:cNvSpPr/>
          <p:nvPr/>
        </p:nvSpPr>
        <p:spPr>
          <a:xfrm>
            <a:off x="612648" y="1572768"/>
            <a:ext cx="914400" cy="50292"/>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9808" y="2084831"/>
            <a:ext cx="3255264" cy="244144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59152"/>
            <a:ext cx="502920" cy="320040"/>
          </a:xfrm>
          <a:prstGeom prst="rect">
            <a:avLst/>
          </a:prstGeom>
          <a:noFill/>
        </p:spPr>
        <p:txBody>
          <a:bodyPr wrap="square" lIns="0" rIns="0" tIns="0" bIns="0" anchor="t">
            <a:spAutoFit/>
          </a:bodyPr>
          <a:lstStyle/>
          <a:p>
            <a:pPr algn="l">
              <a:spcAft>
                <a:spcPts val="0"/>
              </a:spcAft>
              <a:defRPr sz="2400" b="1">
                <a:solidFill>
                  <a:srgbClr val="008F97"/>
                </a:solidFill>
                <a:latin typeface="Aptos Display"/>
              </a:defRPr>
            </a:pPr>
            <a:r>
              <a:t>01</a:t>
            </a:r>
          </a:p>
        </p:txBody>
      </p:sp>
      <p:sp>
        <p:nvSpPr>
          <p:cNvPr id="7" name="TextBox 6"/>
          <p:cNvSpPr txBox="1"/>
          <p:nvPr/>
        </p:nvSpPr>
        <p:spPr>
          <a:xfrm>
            <a:off x="1005840" y="2926080"/>
            <a:ext cx="2606040" cy="274320"/>
          </a:xfrm>
          <a:prstGeom prst="rect">
            <a:avLst/>
          </a:prstGeom>
          <a:noFill/>
        </p:spPr>
        <p:txBody>
          <a:bodyPr wrap="square" lIns="0" rIns="0" tIns="0" bIns="0" anchor="t">
            <a:spAutoFit/>
          </a:bodyPr>
          <a:lstStyle/>
          <a:p>
            <a:pPr algn="l">
              <a:spcAft>
                <a:spcPts val="0"/>
              </a:spcAft>
              <a:defRPr sz="1800" b="1">
                <a:solidFill>
                  <a:srgbClr val="0C1E35"/>
                </a:solidFill>
                <a:latin typeface="Aptos Display"/>
              </a:defRPr>
            </a:pPr>
            <a:r>
              <a:t>STAGED PAYMENTS</a:t>
            </a:r>
          </a:p>
        </p:txBody>
      </p:sp>
      <p:sp>
        <p:nvSpPr>
          <p:cNvPr id="8" name="TextBox 7"/>
          <p:cNvSpPr txBox="1"/>
          <p:nvPr/>
        </p:nvSpPr>
        <p:spPr>
          <a:xfrm>
            <a:off x="1005840" y="3419856"/>
            <a:ext cx="2606040" cy="384048"/>
          </a:xfrm>
          <a:prstGeom prst="rect">
            <a:avLst/>
          </a:prstGeom>
          <a:noFill/>
        </p:spPr>
        <p:txBody>
          <a:bodyPr wrap="square" lIns="0" rIns="0" tIns="0" bIns="0" anchor="t">
            <a:spAutoFit/>
          </a:bodyPr>
          <a:lstStyle/>
          <a:p>
            <a:pPr algn="l">
              <a:spcAft>
                <a:spcPts val="0"/>
              </a:spcAft>
              <a:defRPr sz="2400" b="1">
                <a:solidFill>
                  <a:srgbClr val="141F2B"/>
                </a:solidFill>
                <a:latin typeface="Aptos"/>
              </a:defRPr>
            </a:pPr>
            <a:r>
              <a:t>rely on trust</a:t>
            </a:r>
          </a:p>
        </p:txBody>
      </p:sp>
      <p:sp>
        <p:nvSpPr>
          <p:cNvPr id="9" name="Rounded Rectangle 8"/>
          <p:cNvSpPr/>
          <p:nvPr/>
        </p:nvSpPr>
        <p:spPr>
          <a:xfrm>
            <a:off x="4553712" y="2084831"/>
            <a:ext cx="3255264" cy="244144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9744" y="2359152"/>
            <a:ext cx="502920" cy="320040"/>
          </a:xfrm>
          <a:prstGeom prst="rect">
            <a:avLst/>
          </a:prstGeom>
          <a:noFill/>
        </p:spPr>
        <p:txBody>
          <a:bodyPr wrap="square" lIns="0" rIns="0" tIns="0" bIns="0" anchor="t">
            <a:spAutoFit/>
          </a:bodyPr>
          <a:lstStyle/>
          <a:p>
            <a:pPr algn="l">
              <a:spcAft>
                <a:spcPts val="0"/>
              </a:spcAft>
              <a:defRPr sz="2400" b="1">
                <a:solidFill>
                  <a:srgbClr val="008F97"/>
                </a:solidFill>
                <a:latin typeface="Aptos Display"/>
              </a:defRPr>
            </a:pPr>
            <a:r>
              <a:t>02</a:t>
            </a:r>
          </a:p>
        </p:txBody>
      </p:sp>
      <p:sp>
        <p:nvSpPr>
          <p:cNvPr id="11" name="TextBox 10"/>
          <p:cNvSpPr txBox="1"/>
          <p:nvPr/>
        </p:nvSpPr>
        <p:spPr>
          <a:xfrm>
            <a:off x="4809744" y="2926080"/>
            <a:ext cx="2606040" cy="274320"/>
          </a:xfrm>
          <a:prstGeom prst="rect">
            <a:avLst/>
          </a:prstGeom>
          <a:noFill/>
        </p:spPr>
        <p:txBody>
          <a:bodyPr wrap="square" lIns="0" rIns="0" tIns="0" bIns="0" anchor="t">
            <a:spAutoFit/>
          </a:bodyPr>
          <a:lstStyle/>
          <a:p>
            <a:pPr algn="l">
              <a:spcAft>
                <a:spcPts val="0"/>
              </a:spcAft>
              <a:defRPr sz="1800" b="1">
                <a:solidFill>
                  <a:srgbClr val="0C1E35"/>
                </a:solidFill>
                <a:latin typeface="Aptos Display"/>
              </a:defRPr>
            </a:pPr>
            <a:r>
              <a:t>AI AGENTS</a:t>
            </a:r>
          </a:p>
        </p:txBody>
      </p:sp>
      <p:sp>
        <p:nvSpPr>
          <p:cNvPr id="12" name="TextBox 11"/>
          <p:cNvSpPr txBox="1"/>
          <p:nvPr/>
        </p:nvSpPr>
        <p:spPr>
          <a:xfrm>
            <a:off x="4809744" y="3419856"/>
            <a:ext cx="2606040" cy="384048"/>
          </a:xfrm>
          <a:prstGeom prst="rect">
            <a:avLst/>
          </a:prstGeom>
          <a:noFill/>
        </p:spPr>
        <p:txBody>
          <a:bodyPr wrap="square" lIns="0" rIns="0" tIns="0" bIns="0" anchor="t">
            <a:spAutoFit/>
          </a:bodyPr>
          <a:lstStyle/>
          <a:p>
            <a:pPr algn="l">
              <a:spcAft>
                <a:spcPts val="0"/>
              </a:spcAft>
              <a:defRPr sz="2400" b="1">
                <a:solidFill>
                  <a:srgbClr val="141F2B"/>
                </a:solidFill>
                <a:latin typeface="Aptos"/>
              </a:defRPr>
            </a:pPr>
            <a:r>
              <a:t>can be fooled</a:t>
            </a:r>
          </a:p>
        </p:txBody>
      </p:sp>
      <p:sp>
        <p:nvSpPr>
          <p:cNvPr id="13" name="Rounded Rectangle 12"/>
          <p:cNvSpPr/>
          <p:nvPr/>
        </p:nvSpPr>
        <p:spPr>
          <a:xfrm>
            <a:off x="8357616" y="2084831"/>
            <a:ext cx="3255264" cy="244144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13648" y="2359152"/>
            <a:ext cx="502920" cy="320040"/>
          </a:xfrm>
          <a:prstGeom prst="rect">
            <a:avLst/>
          </a:prstGeom>
          <a:noFill/>
        </p:spPr>
        <p:txBody>
          <a:bodyPr wrap="square" lIns="0" rIns="0" tIns="0" bIns="0" anchor="t">
            <a:spAutoFit/>
          </a:bodyPr>
          <a:lstStyle/>
          <a:p>
            <a:pPr algn="l">
              <a:spcAft>
                <a:spcPts val="0"/>
              </a:spcAft>
              <a:defRPr sz="2400" b="1">
                <a:solidFill>
                  <a:srgbClr val="008F97"/>
                </a:solidFill>
                <a:latin typeface="Aptos Display"/>
              </a:defRPr>
            </a:pPr>
            <a:r>
              <a:t>03</a:t>
            </a:r>
          </a:p>
        </p:txBody>
      </p:sp>
      <p:sp>
        <p:nvSpPr>
          <p:cNvPr id="15" name="TextBox 14"/>
          <p:cNvSpPr txBox="1"/>
          <p:nvPr/>
        </p:nvSpPr>
        <p:spPr>
          <a:xfrm>
            <a:off x="8613648" y="2926080"/>
            <a:ext cx="2606040" cy="274320"/>
          </a:xfrm>
          <a:prstGeom prst="rect">
            <a:avLst/>
          </a:prstGeom>
          <a:noFill/>
        </p:spPr>
        <p:txBody>
          <a:bodyPr wrap="square" lIns="0" rIns="0" tIns="0" bIns="0" anchor="t">
            <a:spAutoFit/>
          </a:bodyPr>
          <a:lstStyle/>
          <a:p>
            <a:pPr algn="l">
              <a:spcAft>
                <a:spcPts val="0"/>
              </a:spcAft>
              <a:defRPr sz="1800" b="1">
                <a:solidFill>
                  <a:srgbClr val="0C1E35"/>
                </a:solidFill>
                <a:latin typeface="Aptos Display"/>
              </a:defRPr>
            </a:pPr>
            <a:r>
              <a:t>PROMPT RULES</a:t>
            </a:r>
          </a:p>
        </p:txBody>
      </p:sp>
      <p:sp>
        <p:nvSpPr>
          <p:cNvPr id="16" name="TextBox 15"/>
          <p:cNvSpPr txBox="1"/>
          <p:nvPr/>
        </p:nvSpPr>
        <p:spPr>
          <a:xfrm>
            <a:off x="8613648" y="3419856"/>
            <a:ext cx="2606040" cy="384048"/>
          </a:xfrm>
          <a:prstGeom prst="rect">
            <a:avLst/>
          </a:prstGeom>
          <a:noFill/>
        </p:spPr>
        <p:txBody>
          <a:bodyPr wrap="square" lIns="0" rIns="0" tIns="0" bIns="0" anchor="t">
            <a:spAutoFit/>
          </a:bodyPr>
          <a:lstStyle/>
          <a:p>
            <a:pPr algn="l">
              <a:spcAft>
                <a:spcPts val="0"/>
              </a:spcAft>
              <a:defRPr sz="2400" b="1">
                <a:solidFill>
                  <a:srgbClr val="141F2B"/>
                </a:solidFill>
                <a:latin typeface="Aptos"/>
              </a:defRPr>
            </a:pPr>
            <a:r>
              <a:t>break</a:t>
            </a:r>
          </a:p>
        </p:txBody>
      </p:sp>
      <p:sp>
        <p:nvSpPr>
          <p:cNvPr id="17" name="TextBox 16"/>
          <p:cNvSpPr txBox="1"/>
          <p:nvPr/>
        </p:nvSpPr>
        <p:spPr>
          <a:xfrm>
            <a:off x="758952" y="5166360"/>
            <a:ext cx="10515600" cy="365760"/>
          </a:xfrm>
          <a:prstGeom prst="rect">
            <a:avLst/>
          </a:prstGeom>
          <a:noFill/>
        </p:spPr>
        <p:txBody>
          <a:bodyPr wrap="square" lIns="0" rIns="0" tIns="0" bIns="0" anchor="t">
            <a:spAutoFit/>
          </a:bodyPr>
          <a:lstStyle/>
          <a:p>
            <a:pPr algn="l">
              <a:spcAft>
                <a:spcPts val="0"/>
              </a:spcAft>
              <a:defRPr sz="2400" b="1">
                <a:solidFill>
                  <a:srgbClr val="0C1E35"/>
                </a:solidFill>
                <a:latin typeface="Aptos"/>
              </a:defRPr>
            </a:pPr>
            <a:r>
              <a:t>How can an agent act when its rules must survive manipulation?</a:t>
            </a:r>
          </a:p>
        </p:txBody>
      </p:sp>
      <p:sp>
        <p:nvSpPr>
          <p:cNvPr id="18" name="TextBox 17"/>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19" name="TextBox 18"/>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29184"/>
            <a:ext cx="896112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THREE LAYERS OF AUTHORITY</a:t>
            </a:r>
          </a:p>
        </p:txBody>
      </p:sp>
      <p:sp>
        <p:nvSpPr>
          <p:cNvPr id="3" name="TextBox 2"/>
          <p:cNvSpPr txBox="1"/>
          <p:nvPr/>
        </p:nvSpPr>
        <p:spPr>
          <a:xfrm>
            <a:off x="612648" y="603504"/>
            <a:ext cx="10972800" cy="932688"/>
          </a:xfrm>
          <a:prstGeom prst="rect">
            <a:avLst/>
          </a:prstGeom>
          <a:noFill/>
        </p:spPr>
        <p:txBody>
          <a:bodyPr wrap="square" lIns="0" rIns="0" tIns="0" bIns="0" anchor="t">
            <a:spAutoFit/>
          </a:bodyPr>
          <a:lstStyle/>
          <a:p>
            <a:pPr algn="l">
              <a:spcAft>
                <a:spcPts val="0"/>
              </a:spcAft>
              <a:defRPr sz="3000" b="1">
                <a:solidFill>
                  <a:srgbClr val="0C1E35"/>
                </a:solidFill>
                <a:latin typeface="Aptos Display"/>
              </a:defRPr>
            </a:pPr>
            <a:r>
              <a:t>User owns · agent holds a key · contract decides</a:t>
            </a:r>
          </a:p>
        </p:txBody>
      </p:sp>
      <p:sp>
        <p:nvSpPr>
          <p:cNvPr id="4" name="Rectangle 3"/>
          <p:cNvSpPr/>
          <p:nvPr/>
        </p:nvSpPr>
        <p:spPr>
          <a:xfrm>
            <a:off x="612648" y="1572768"/>
            <a:ext cx="914400" cy="50292"/>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9808" y="1920240"/>
            <a:ext cx="3886200" cy="65836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9264" y="2084832"/>
            <a:ext cx="1170432" cy="201168"/>
          </a:xfrm>
          <a:prstGeom prst="rect">
            <a:avLst/>
          </a:prstGeom>
          <a:noFill/>
        </p:spPr>
        <p:txBody>
          <a:bodyPr wrap="square" lIns="0" rIns="0" tIns="0" bIns="0" anchor="t">
            <a:spAutoFit/>
          </a:bodyPr>
          <a:lstStyle/>
          <a:p>
            <a:pPr algn="l">
              <a:spcAft>
                <a:spcPts val="0"/>
              </a:spcAft>
              <a:defRPr sz="1400" b="1">
                <a:solidFill>
                  <a:srgbClr val="0C1E35"/>
                </a:solidFill>
                <a:latin typeface="Aptos"/>
              </a:defRPr>
            </a:pPr>
            <a:r>
              <a:t>USER</a:t>
            </a:r>
          </a:p>
        </p:txBody>
      </p:sp>
      <p:sp>
        <p:nvSpPr>
          <p:cNvPr id="7" name="TextBox 6"/>
          <p:cNvSpPr txBox="1"/>
          <p:nvPr/>
        </p:nvSpPr>
        <p:spPr>
          <a:xfrm>
            <a:off x="2148840" y="2057400"/>
            <a:ext cx="2148840" cy="274320"/>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owns</a:t>
            </a:r>
          </a:p>
        </p:txBody>
      </p:sp>
      <p:cxnSp>
        <p:nvCxnSpPr>
          <p:cNvPr id="8" name="Connector 7"/>
          <p:cNvCxnSpPr/>
          <p:nvPr/>
        </p:nvCxnSpPr>
        <p:spPr>
          <a:xfrm>
            <a:off x="2697480" y="2587752"/>
            <a:ext cx="0" cy="246888"/>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49808" y="2889504"/>
            <a:ext cx="3886200" cy="65836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054096"/>
            <a:ext cx="1170432" cy="201168"/>
          </a:xfrm>
          <a:prstGeom prst="rect">
            <a:avLst/>
          </a:prstGeom>
          <a:noFill/>
        </p:spPr>
        <p:txBody>
          <a:bodyPr wrap="square" lIns="0" rIns="0" tIns="0" bIns="0" anchor="t">
            <a:spAutoFit/>
          </a:bodyPr>
          <a:lstStyle/>
          <a:p>
            <a:pPr algn="l">
              <a:spcAft>
                <a:spcPts val="0"/>
              </a:spcAft>
              <a:defRPr sz="1400" b="1">
                <a:solidFill>
                  <a:srgbClr val="0C1E35"/>
                </a:solidFill>
                <a:latin typeface="Aptos"/>
              </a:defRPr>
            </a:pPr>
            <a:r>
              <a:t>AGENT</a:t>
            </a:r>
          </a:p>
        </p:txBody>
      </p:sp>
      <p:sp>
        <p:nvSpPr>
          <p:cNvPr id="11" name="TextBox 10"/>
          <p:cNvSpPr txBox="1"/>
          <p:nvPr/>
        </p:nvSpPr>
        <p:spPr>
          <a:xfrm>
            <a:off x="2148840" y="3026664"/>
            <a:ext cx="2148840" cy="274320"/>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session key</a:t>
            </a:r>
          </a:p>
        </p:txBody>
      </p:sp>
      <p:cxnSp>
        <p:nvCxnSpPr>
          <p:cNvPr id="12" name="Connector 11"/>
          <p:cNvCxnSpPr/>
          <p:nvPr/>
        </p:nvCxnSpPr>
        <p:spPr>
          <a:xfrm>
            <a:off x="2697480" y="3557016"/>
            <a:ext cx="0" cy="246888"/>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49808" y="3858768"/>
            <a:ext cx="3886200" cy="658368"/>
          </a:xfrm>
          <a:prstGeom prst="roundRect">
            <a:avLst/>
          </a:prstGeom>
          <a:solidFill>
            <a:srgbClr val="F0F4F6"/>
          </a:solidFill>
          <a:ln w="12700">
            <a:solidFill>
              <a:srgbClr val="008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023360"/>
            <a:ext cx="1170432" cy="201168"/>
          </a:xfrm>
          <a:prstGeom prst="rect">
            <a:avLst/>
          </a:prstGeom>
          <a:noFill/>
        </p:spPr>
        <p:txBody>
          <a:bodyPr wrap="square" lIns="0" rIns="0" tIns="0" bIns="0" anchor="t">
            <a:spAutoFit/>
          </a:bodyPr>
          <a:lstStyle/>
          <a:p>
            <a:pPr algn="l">
              <a:spcAft>
                <a:spcPts val="0"/>
              </a:spcAft>
              <a:defRPr sz="1400" b="1">
                <a:solidFill>
                  <a:srgbClr val="008F97"/>
                </a:solidFill>
                <a:latin typeface="Aptos"/>
              </a:defRPr>
            </a:pPr>
            <a:r>
              <a:t>CONTRACT</a:t>
            </a:r>
          </a:p>
        </p:txBody>
      </p:sp>
      <p:sp>
        <p:nvSpPr>
          <p:cNvPr id="15" name="TextBox 14"/>
          <p:cNvSpPr txBox="1"/>
          <p:nvPr/>
        </p:nvSpPr>
        <p:spPr>
          <a:xfrm>
            <a:off x="2148840" y="3995928"/>
            <a:ext cx="2148840" cy="274320"/>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decides</a:t>
            </a:r>
          </a:p>
        </p:txBody>
      </p:sp>
      <p:sp>
        <p:nvSpPr>
          <p:cNvPr id="16" name="Rounded Rectangle 15"/>
          <p:cNvSpPr/>
          <p:nvPr/>
        </p:nvSpPr>
        <p:spPr>
          <a:xfrm>
            <a:off x="5166360" y="1901952"/>
            <a:ext cx="6144768" cy="3566160"/>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0680" y="2148840"/>
            <a:ext cx="1828800" cy="18288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ACTION TIERS</a:t>
            </a:r>
          </a:p>
        </p:txBody>
      </p:sp>
      <p:sp>
        <p:nvSpPr>
          <p:cNvPr id="18" name="TextBox 17"/>
          <p:cNvSpPr txBox="1"/>
          <p:nvPr/>
        </p:nvSpPr>
        <p:spPr>
          <a:xfrm>
            <a:off x="5486400" y="2587752"/>
            <a:ext cx="320040" cy="246888"/>
          </a:xfrm>
          <a:prstGeom prst="rect">
            <a:avLst/>
          </a:prstGeom>
          <a:noFill/>
        </p:spPr>
        <p:txBody>
          <a:bodyPr wrap="square" lIns="0" rIns="0" tIns="0" bIns="0" anchor="t">
            <a:spAutoFit/>
          </a:bodyPr>
          <a:lstStyle/>
          <a:p>
            <a:pPr algn="ctr">
              <a:spcAft>
                <a:spcPts val="0"/>
              </a:spcAft>
              <a:defRPr sz="1600" b="1">
                <a:solidFill>
                  <a:srgbClr val="008F97"/>
                </a:solidFill>
                <a:latin typeface="Aptos"/>
              </a:defRPr>
            </a:pPr>
            <a:r>
              <a:t>0</a:t>
            </a:r>
          </a:p>
        </p:txBody>
      </p:sp>
      <p:sp>
        <p:nvSpPr>
          <p:cNvPr id="19" name="TextBox 18"/>
          <p:cNvSpPr txBox="1"/>
          <p:nvPr/>
        </p:nvSpPr>
        <p:spPr>
          <a:xfrm>
            <a:off x="6080760" y="2587752"/>
            <a:ext cx="4389120" cy="246888"/>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Read</a:t>
            </a:r>
          </a:p>
        </p:txBody>
      </p:sp>
      <p:cxnSp>
        <p:nvCxnSpPr>
          <p:cNvPr id="20" name="Connector 19"/>
          <p:cNvCxnSpPr/>
          <p:nvPr/>
        </p:nvCxnSpPr>
        <p:spPr>
          <a:xfrm>
            <a:off x="5486400" y="2926080"/>
            <a:ext cx="0" cy="182880"/>
          </a:xfrm>
          <a:prstGeom prst="line">
            <a:avLst/>
          </a:prstGeom>
          <a:ln w="19050">
            <a:solidFill>
              <a:srgbClr val="CFD8D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0" y="3191256"/>
            <a:ext cx="320040" cy="246888"/>
          </a:xfrm>
          <a:prstGeom prst="rect">
            <a:avLst/>
          </a:prstGeom>
          <a:noFill/>
        </p:spPr>
        <p:txBody>
          <a:bodyPr wrap="square" lIns="0" rIns="0" tIns="0" bIns="0" anchor="t">
            <a:spAutoFit/>
          </a:bodyPr>
          <a:lstStyle/>
          <a:p>
            <a:pPr algn="ctr">
              <a:spcAft>
                <a:spcPts val="0"/>
              </a:spcAft>
              <a:defRPr sz="1600" b="1">
                <a:solidFill>
                  <a:srgbClr val="008F97"/>
                </a:solidFill>
                <a:latin typeface="Aptos"/>
              </a:defRPr>
            </a:pPr>
            <a:r>
              <a:t>1</a:t>
            </a:r>
          </a:p>
        </p:txBody>
      </p:sp>
      <p:sp>
        <p:nvSpPr>
          <p:cNvPr id="22" name="TextBox 21"/>
          <p:cNvSpPr txBox="1"/>
          <p:nvPr/>
        </p:nvSpPr>
        <p:spPr>
          <a:xfrm>
            <a:off x="6080760" y="3191256"/>
            <a:ext cx="4389120" cy="246888"/>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Propose</a:t>
            </a:r>
          </a:p>
        </p:txBody>
      </p:sp>
      <p:cxnSp>
        <p:nvCxnSpPr>
          <p:cNvPr id="23" name="Connector 22"/>
          <p:cNvCxnSpPr/>
          <p:nvPr/>
        </p:nvCxnSpPr>
        <p:spPr>
          <a:xfrm>
            <a:off x="5486400" y="3529584"/>
            <a:ext cx="0" cy="182880"/>
          </a:xfrm>
          <a:prstGeom prst="line">
            <a:avLst/>
          </a:prstGeom>
          <a:ln w="19050">
            <a:solidFill>
              <a:srgbClr val="CFD8D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0" y="3794760"/>
            <a:ext cx="320040" cy="246888"/>
          </a:xfrm>
          <a:prstGeom prst="rect">
            <a:avLst/>
          </a:prstGeom>
          <a:noFill/>
        </p:spPr>
        <p:txBody>
          <a:bodyPr wrap="square" lIns="0" rIns="0" tIns="0" bIns="0" anchor="t">
            <a:spAutoFit/>
          </a:bodyPr>
          <a:lstStyle/>
          <a:p>
            <a:pPr algn="ctr">
              <a:spcAft>
                <a:spcPts val="0"/>
              </a:spcAft>
              <a:defRPr sz="1600" b="1">
                <a:solidFill>
                  <a:srgbClr val="008F97"/>
                </a:solidFill>
                <a:latin typeface="Aptos"/>
              </a:defRPr>
            </a:pPr>
            <a:r>
              <a:t>2</a:t>
            </a:r>
          </a:p>
        </p:txBody>
      </p:sp>
      <p:sp>
        <p:nvSpPr>
          <p:cNvPr id="25" name="TextBox 24"/>
          <p:cNvSpPr txBox="1"/>
          <p:nvPr/>
        </p:nvSpPr>
        <p:spPr>
          <a:xfrm>
            <a:off x="6080760" y="3794760"/>
            <a:ext cx="4389120" cy="246888"/>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Auto within caps</a:t>
            </a:r>
          </a:p>
        </p:txBody>
      </p:sp>
      <p:cxnSp>
        <p:nvCxnSpPr>
          <p:cNvPr id="26" name="Connector 25"/>
          <p:cNvCxnSpPr/>
          <p:nvPr/>
        </p:nvCxnSpPr>
        <p:spPr>
          <a:xfrm>
            <a:off x="5486400" y="4133088"/>
            <a:ext cx="0" cy="182880"/>
          </a:xfrm>
          <a:prstGeom prst="line">
            <a:avLst/>
          </a:prstGeom>
          <a:ln w="19050">
            <a:solidFill>
              <a:srgbClr val="CFD8D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0" y="4398264"/>
            <a:ext cx="320040" cy="246888"/>
          </a:xfrm>
          <a:prstGeom prst="rect">
            <a:avLst/>
          </a:prstGeom>
          <a:noFill/>
        </p:spPr>
        <p:txBody>
          <a:bodyPr wrap="square" lIns="0" rIns="0" tIns="0" bIns="0" anchor="t">
            <a:spAutoFit/>
          </a:bodyPr>
          <a:lstStyle/>
          <a:p>
            <a:pPr algn="ctr">
              <a:spcAft>
                <a:spcPts val="0"/>
              </a:spcAft>
              <a:defRPr sz="1600" b="1">
                <a:solidFill>
                  <a:srgbClr val="008F97"/>
                </a:solidFill>
                <a:latin typeface="Aptos"/>
              </a:defRPr>
            </a:pPr>
            <a:r>
              <a:t>3</a:t>
            </a:r>
          </a:p>
        </p:txBody>
      </p:sp>
      <p:sp>
        <p:nvSpPr>
          <p:cNvPr id="28" name="TextBox 27"/>
          <p:cNvSpPr txBox="1"/>
          <p:nvPr/>
        </p:nvSpPr>
        <p:spPr>
          <a:xfrm>
            <a:off x="6080760" y="4398264"/>
            <a:ext cx="4389120" cy="246888"/>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Emergency pause</a:t>
            </a:r>
          </a:p>
        </p:txBody>
      </p:sp>
      <p:sp>
        <p:nvSpPr>
          <p:cNvPr id="29" name="TextBox 28"/>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30" name="TextBox 29"/>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29184"/>
            <a:ext cx="896112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TWO GUARDS; ONE ENFORCEMENT BOUNDARY</a:t>
            </a:r>
          </a:p>
        </p:txBody>
      </p:sp>
      <p:sp>
        <p:nvSpPr>
          <p:cNvPr id="3" name="TextBox 2"/>
          <p:cNvSpPr txBox="1"/>
          <p:nvPr/>
        </p:nvSpPr>
        <p:spPr>
          <a:xfrm>
            <a:off x="612648" y="603504"/>
            <a:ext cx="10972800" cy="932688"/>
          </a:xfrm>
          <a:prstGeom prst="rect">
            <a:avLst/>
          </a:prstGeom>
          <a:noFill/>
        </p:spPr>
        <p:txBody>
          <a:bodyPr wrap="square" lIns="0" rIns="0" tIns="0" bIns="0" anchor="t">
            <a:spAutoFit/>
          </a:bodyPr>
          <a:lstStyle/>
          <a:p>
            <a:pPr algn="l">
              <a:spcAft>
                <a:spcPts val="0"/>
              </a:spcAft>
              <a:defRPr sz="3600" b="1">
                <a:solidFill>
                  <a:srgbClr val="0C1E35"/>
                </a:solidFill>
                <a:latin typeface="Aptos Display"/>
              </a:defRPr>
            </a:pPr>
            <a:r>
              <a:t>Architecture</a:t>
            </a:r>
          </a:p>
        </p:txBody>
      </p:sp>
      <p:sp>
        <p:nvSpPr>
          <p:cNvPr id="4" name="Rectangle 3"/>
          <p:cNvSpPr/>
          <p:nvPr/>
        </p:nvSpPr>
        <p:spPr>
          <a:xfrm>
            <a:off x="612648" y="1572768"/>
            <a:ext cx="914400" cy="50292"/>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1920240"/>
            <a:ext cx="1417320" cy="804672"/>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084832"/>
            <a:ext cx="1234440" cy="438912"/>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User</a:t>
            </a:r>
          </a:p>
        </p:txBody>
      </p:sp>
      <p:sp>
        <p:nvSpPr>
          <p:cNvPr id="7" name="Rounded Rectangle 6"/>
          <p:cNvSpPr/>
          <p:nvPr/>
        </p:nvSpPr>
        <p:spPr>
          <a:xfrm>
            <a:off x="2514600" y="1920240"/>
            <a:ext cx="1508760" cy="804672"/>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06040" y="2084832"/>
            <a:ext cx="1325880" cy="438912"/>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AI agent</a:t>
            </a:r>
          </a:p>
        </p:txBody>
      </p:sp>
      <p:cxnSp>
        <p:nvCxnSpPr>
          <p:cNvPr id="9" name="Connector 8"/>
          <p:cNvCxnSpPr/>
          <p:nvPr/>
        </p:nvCxnSpPr>
        <p:spPr>
          <a:xfrm>
            <a:off x="2167128" y="2322576"/>
            <a:ext cx="292608"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89120" y="1920240"/>
            <a:ext cx="1444752" cy="804672"/>
          </a:xfrm>
          <a:prstGeom prst="roundRect">
            <a:avLst/>
          </a:prstGeom>
          <a:solidFill>
            <a:srgbClr val="F0F4F6"/>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2084832"/>
            <a:ext cx="1261872" cy="438912"/>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Guard 1</a:t>
            </a:r>
            <a:br/>
            <a:r>
              <a:t>policy</a:t>
            </a:r>
          </a:p>
        </p:txBody>
      </p:sp>
      <p:cxnSp>
        <p:nvCxnSpPr>
          <p:cNvPr id="12" name="Connector 11"/>
          <p:cNvCxnSpPr/>
          <p:nvPr/>
        </p:nvCxnSpPr>
        <p:spPr>
          <a:xfrm>
            <a:off x="4041648" y="2322576"/>
            <a:ext cx="292608"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36208" y="1920240"/>
            <a:ext cx="1691640" cy="804672"/>
          </a:xfrm>
          <a:prstGeom prst="roundRect">
            <a:avLst/>
          </a:prstGeom>
          <a:solidFill>
            <a:srgbClr val="F0F4F6"/>
          </a:solidFill>
          <a:ln w="12700">
            <a:solidFill>
              <a:srgbClr val="008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2084832"/>
            <a:ext cx="1508760" cy="438912"/>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Guard 2</a:t>
            </a:r>
            <a:br/>
            <a:r>
              <a:t>AgentWallet</a:t>
            </a:r>
          </a:p>
        </p:txBody>
      </p:sp>
      <p:cxnSp>
        <p:nvCxnSpPr>
          <p:cNvPr id="15" name="Connector 14"/>
          <p:cNvCxnSpPr/>
          <p:nvPr/>
        </p:nvCxnSpPr>
        <p:spPr>
          <a:xfrm>
            <a:off x="5888736" y="2322576"/>
            <a:ext cx="292608"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366760" y="1920240"/>
            <a:ext cx="1572768" cy="804672"/>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2084832"/>
            <a:ext cx="1389888" cy="438912"/>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FileEscrow</a:t>
            </a:r>
          </a:p>
        </p:txBody>
      </p:sp>
      <p:cxnSp>
        <p:nvCxnSpPr>
          <p:cNvPr id="18" name="Connector 17"/>
          <p:cNvCxnSpPr/>
          <p:nvPr/>
        </p:nvCxnSpPr>
        <p:spPr>
          <a:xfrm>
            <a:off x="8019288" y="2322576"/>
            <a:ext cx="292608"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09360" y="1444752"/>
            <a:ext cx="1645920" cy="182880"/>
          </a:xfrm>
          <a:prstGeom prst="rect">
            <a:avLst/>
          </a:prstGeom>
          <a:noFill/>
        </p:spPr>
        <p:txBody>
          <a:bodyPr wrap="square" lIns="0" rIns="0" tIns="0" bIns="0" anchor="t">
            <a:spAutoFit/>
          </a:bodyPr>
          <a:lstStyle/>
          <a:p>
            <a:pPr algn="ctr">
              <a:spcAft>
                <a:spcPts val="0"/>
              </a:spcAft>
              <a:defRPr sz="900" b="1">
                <a:solidFill>
                  <a:srgbClr val="008F97"/>
                </a:solidFill>
                <a:latin typeface="Aptos"/>
              </a:defRPr>
            </a:pPr>
            <a:r>
              <a:t>CONTRACT BOUNDARY</a:t>
            </a:r>
          </a:p>
        </p:txBody>
      </p:sp>
      <p:sp>
        <p:nvSpPr>
          <p:cNvPr id="20" name="Rounded Rectangle 19"/>
          <p:cNvSpPr/>
          <p:nvPr/>
        </p:nvSpPr>
        <p:spPr>
          <a:xfrm>
            <a:off x="713232" y="3840480"/>
            <a:ext cx="3291840" cy="914400"/>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069080"/>
            <a:ext cx="2889504" cy="274320"/>
          </a:xfrm>
          <a:prstGeom prst="rect">
            <a:avLst/>
          </a:prstGeom>
          <a:noFill/>
        </p:spPr>
        <p:txBody>
          <a:bodyPr wrap="square" lIns="0" rIns="0" tIns="0" bIns="0" anchor="t">
            <a:spAutoFit/>
          </a:bodyPr>
          <a:lstStyle/>
          <a:p>
            <a:pPr algn="ctr">
              <a:spcAft>
                <a:spcPts val="0"/>
              </a:spcAft>
              <a:defRPr sz="2000" b="1">
                <a:solidFill>
                  <a:srgbClr val="0C1E35"/>
                </a:solidFill>
                <a:latin typeface="Aptos"/>
              </a:defRPr>
            </a:pPr>
            <a:r>
              <a:t>Mock Bank ledger</a:t>
            </a:r>
          </a:p>
        </p:txBody>
      </p:sp>
      <p:sp>
        <p:nvSpPr>
          <p:cNvPr id="22" name="Rounded Rectangle 21"/>
          <p:cNvSpPr/>
          <p:nvPr/>
        </p:nvSpPr>
        <p:spPr>
          <a:xfrm>
            <a:off x="5486400" y="3840480"/>
            <a:ext cx="3749039" cy="914400"/>
          </a:xfrm>
          <a:prstGeom prst="roundRect">
            <a:avLst/>
          </a:prstGeom>
          <a:solidFill>
            <a:srgbClr val="F0F4F6"/>
          </a:solidFill>
          <a:ln w="12700">
            <a:solidFill>
              <a:srgbClr val="008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0" y="3968496"/>
            <a:ext cx="3383280" cy="274320"/>
          </a:xfrm>
          <a:prstGeom prst="rect">
            <a:avLst/>
          </a:prstGeom>
          <a:noFill/>
        </p:spPr>
        <p:txBody>
          <a:bodyPr wrap="square" lIns="0" rIns="0" tIns="0" bIns="0" anchor="t">
            <a:spAutoFit/>
          </a:bodyPr>
          <a:lstStyle/>
          <a:p>
            <a:pPr algn="ctr">
              <a:spcAft>
                <a:spcPts val="0"/>
              </a:spcAft>
              <a:defRPr sz="2000" b="1">
                <a:solidFill>
                  <a:srgbClr val="0C1E35"/>
                </a:solidFill>
                <a:latin typeface="Aptos"/>
              </a:defRPr>
            </a:pPr>
            <a:r>
              <a:t>Private Besu chain</a:t>
            </a:r>
          </a:p>
        </p:txBody>
      </p:sp>
      <p:sp>
        <p:nvSpPr>
          <p:cNvPr id="24" name="TextBox 23"/>
          <p:cNvSpPr txBox="1"/>
          <p:nvPr/>
        </p:nvSpPr>
        <p:spPr>
          <a:xfrm>
            <a:off x="5669280" y="4370832"/>
            <a:ext cx="3383280" cy="182880"/>
          </a:xfrm>
          <a:prstGeom prst="rect">
            <a:avLst/>
          </a:prstGeom>
          <a:noFill/>
        </p:spPr>
        <p:txBody>
          <a:bodyPr wrap="square" lIns="0" rIns="0" tIns="0" bIns="0" anchor="t">
            <a:spAutoFit/>
          </a:bodyPr>
          <a:lstStyle/>
          <a:p>
            <a:pPr algn="ctr">
              <a:spcAft>
                <a:spcPts val="0"/>
              </a:spcAft>
              <a:defRPr sz="1200" b="0">
                <a:solidFill>
                  <a:srgbClr val="536270"/>
                </a:solidFill>
                <a:latin typeface="Aptos"/>
              </a:defRPr>
            </a:pPr>
            <a:r>
              <a:t>public read-only explorer</a:t>
            </a:r>
          </a:p>
        </p:txBody>
      </p:sp>
      <p:cxnSp>
        <p:nvCxnSpPr>
          <p:cNvPr id="25" name="Connector 24"/>
          <p:cNvCxnSpPr/>
          <p:nvPr/>
        </p:nvCxnSpPr>
        <p:spPr>
          <a:xfrm>
            <a:off x="4023360" y="4297680"/>
            <a:ext cx="1444752"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41648" y="3931920"/>
            <a:ext cx="1371600" cy="201168"/>
          </a:xfrm>
          <a:prstGeom prst="rect">
            <a:avLst/>
          </a:prstGeom>
          <a:noFill/>
        </p:spPr>
        <p:txBody>
          <a:bodyPr wrap="square" lIns="0" rIns="0" tIns="0" bIns="0" anchor="t">
            <a:spAutoFit/>
          </a:bodyPr>
          <a:lstStyle/>
          <a:p>
            <a:pPr algn="ctr">
              <a:spcAft>
                <a:spcPts val="0"/>
              </a:spcAft>
              <a:defRPr sz="1000" b="1">
                <a:solidFill>
                  <a:srgbClr val="008F97"/>
                </a:solidFill>
                <a:latin typeface="Aptos"/>
              </a:defRPr>
            </a:pPr>
            <a:r>
              <a:t>debit &gt; mint &gt; lock</a:t>
            </a:r>
          </a:p>
        </p:txBody>
      </p:sp>
      <p:cxnSp>
        <p:nvCxnSpPr>
          <p:cNvPr id="27" name="Connector 26"/>
          <p:cNvCxnSpPr/>
          <p:nvPr/>
        </p:nvCxnSpPr>
        <p:spPr>
          <a:xfrm>
            <a:off x="7086600" y="2743200"/>
            <a:ext cx="0" cy="1078991"/>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13232" y="5212080"/>
            <a:ext cx="10515600" cy="640080"/>
          </a:xfrm>
          <a:prstGeom prst="rect">
            <a:avLst/>
          </a:prstGeom>
          <a:noFill/>
        </p:spPr>
        <p:txBody>
          <a:bodyPr wrap="square" lIns="0" rIns="0" tIns="0" bIns="0" anchor="t">
            <a:spAutoFit/>
          </a:bodyPr>
          <a:lstStyle/>
          <a:p>
            <a:pPr algn="l">
              <a:spcAft>
                <a:spcPts val="0"/>
              </a:spcAft>
              <a:defRPr sz="1800" b="0">
                <a:solidFill>
                  <a:srgbClr val="536270"/>
                </a:solidFill>
                <a:latin typeface="Aptos"/>
              </a:defRPr>
            </a:pPr>
            <a:r>
              <a:t>When the escrow pays out, the seller's bank is credited. Only the app can write to the chain; anyone can read it.</a:t>
            </a:r>
          </a:p>
        </p:txBody>
      </p:sp>
      <p:sp>
        <p:nvSpPr>
          <p:cNvPr id="29" name="TextBox 28"/>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30" name="TextBox 29"/>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29184"/>
            <a:ext cx="896112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A SIX-STEP FAIR EXCHANGE</a:t>
            </a:r>
          </a:p>
        </p:txBody>
      </p:sp>
      <p:sp>
        <p:nvSpPr>
          <p:cNvPr id="3" name="TextBox 2"/>
          <p:cNvSpPr txBox="1"/>
          <p:nvPr/>
        </p:nvSpPr>
        <p:spPr>
          <a:xfrm>
            <a:off x="612648" y="603504"/>
            <a:ext cx="10972800" cy="932688"/>
          </a:xfrm>
          <a:prstGeom prst="rect">
            <a:avLst/>
          </a:prstGeom>
          <a:noFill/>
        </p:spPr>
        <p:txBody>
          <a:bodyPr wrap="square" lIns="0" rIns="0" tIns="0" bIns="0" anchor="t">
            <a:spAutoFit/>
          </a:bodyPr>
          <a:lstStyle/>
          <a:p>
            <a:pPr algn="l">
              <a:spcAft>
                <a:spcPts val="0"/>
              </a:spcAft>
              <a:defRPr sz="3600" b="1">
                <a:solidFill>
                  <a:srgbClr val="0C1E35"/>
                </a:solidFill>
                <a:latin typeface="Aptos Display"/>
              </a:defRPr>
            </a:pPr>
            <a:r>
              <a:t>A deal, step by step</a:t>
            </a:r>
          </a:p>
        </p:txBody>
      </p:sp>
      <p:sp>
        <p:nvSpPr>
          <p:cNvPr id="4" name="Rectangle 3"/>
          <p:cNvSpPr/>
          <p:nvPr/>
        </p:nvSpPr>
        <p:spPr>
          <a:xfrm>
            <a:off x="612648" y="1572768"/>
            <a:ext cx="914400" cy="50292"/>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2648" y="2377440"/>
            <a:ext cx="1645920" cy="1371600"/>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542032"/>
            <a:ext cx="274320" cy="164592"/>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01</a:t>
            </a:r>
          </a:p>
        </p:txBody>
      </p:sp>
      <p:sp>
        <p:nvSpPr>
          <p:cNvPr id="7" name="TextBox 6"/>
          <p:cNvSpPr txBox="1"/>
          <p:nvPr/>
        </p:nvSpPr>
        <p:spPr>
          <a:xfrm>
            <a:off x="704088" y="2834640"/>
            <a:ext cx="1463040" cy="731520"/>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Draft</a:t>
            </a:r>
          </a:p>
        </p:txBody>
      </p:sp>
      <p:cxnSp>
        <p:nvCxnSpPr>
          <p:cNvPr id="8" name="Connector 7"/>
          <p:cNvCxnSpPr/>
          <p:nvPr/>
        </p:nvCxnSpPr>
        <p:spPr>
          <a:xfrm>
            <a:off x="2286000" y="3063240"/>
            <a:ext cx="192024"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05456" y="2377440"/>
            <a:ext cx="1645920" cy="1371600"/>
          </a:xfrm>
          <a:prstGeom prst="roundRect">
            <a:avLst/>
          </a:prstGeom>
          <a:solidFill>
            <a:srgbClr val="F0F4F6"/>
          </a:solidFill>
          <a:ln w="12700">
            <a:solidFill>
              <a:srgbClr val="008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42615" y="2542032"/>
            <a:ext cx="274320" cy="164592"/>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02</a:t>
            </a:r>
          </a:p>
        </p:txBody>
      </p:sp>
      <p:sp>
        <p:nvSpPr>
          <p:cNvPr id="11" name="TextBox 10"/>
          <p:cNvSpPr txBox="1"/>
          <p:nvPr/>
        </p:nvSpPr>
        <p:spPr>
          <a:xfrm>
            <a:off x="2596896" y="2834640"/>
            <a:ext cx="1463040" cy="731520"/>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Approve</a:t>
            </a:r>
            <a:br/>
            <a:r>
              <a:t>and Lock</a:t>
            </a:r>
          </a:p>
        </p:txBody>
      </p:sp>
      <p:cxnSp>
        <p:nvCxnSpPr>
          <p:cNvPr id="12" name="Connector 11"/>
          <p:cNvCxnSpPr/>
          <p:nvPr/>
        </p:nvCxnSpPr>
        <p:spPr>
          <a:xfrm>
            <a:off x="4178808" y="3063240"/>
            <a:ext cx="192023"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98264" y="2377440"/>
            <a:ext cx="1645920" cy="1371600"/>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542032"/>
            <a:ext cx="274320" cy="164592"/>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03</a:t>
            </a:r>
          </a:p>
        </p:txBody>
      </p:sp>
      <p:sp>
        <p:nvSpPr>
          <p:cNvPr id="15" name="TextBox 14"/>
          <p:cNvSpPr txBox="1"/>
          <p:nvPr/>
        </p:nvSpPr>
        <p:spPr>
          <a:xfrm>
            <a:off x="4489703" y="2834640"/>
            <a:ext cx="1463040" cy="731520"/>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Deliver</a:t>
            </a:r>
            <a:br/>
            <a:r>
              <a:t>(encrypted)</a:t>
            </a:r>
          </a:p>
        </p:txBody>
      </p:sp>
      <p:cxnSp>
        <p:nvCxnSpPr>
          <p:cNvPr id="16" name="Connector 15"/>
          <p:cNvCxnSpPr/>
          <p:nvPr/>
        </p:nvCxnSpPr>
        <p:spPr>
          <a:xfrm>
            <a:off x="6071616" y="3063240"/>
            <a:ext cx="192024"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91071" y="2377440"/>
            <a:ext cx="1645920" cy="1371600"/>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1" y="2542032"/>
            <a:ext cx="274320" cy="164592"/>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04</a:t>
            </a:r>
          </a:p>
        </p:txBody>
      </p:sp>
      <p:sp>
        <p:nvSpPr>
          <p:cNvPr id="19" name="TextBox 18"/>
          <p:cNvSpPr txBox="1"/>
          <p:nvPr/>
        </p:nvSpPr>
        <p:spPr>
          <a:xfrm>
            <a:off x="6382511" y="2834640"/>
            <a:ext cx="1463040" cy="731520"/>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Preview</a:t>
            </a:r>
          </a:p>
        </p:txBody>
      </p:sp>
      <p:cxnSp>
        <p:nvCxnSpPr>
          <p:cNvPr id="20" name="Connector 19"/>
          <p:cNvCxnSpPr/>
          <p:nvPr/>
        </p:nvCxnSpPr>
        <p:spPr>
          <a:xfrm>
            <a:off x="7964423" y="3063240"/>
            <a:ext cx="192024"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83879" y="2377440"/>
            <a:ext cx="1645920" cy="1371600"/>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2542032"/>
            <a:ext cx="274320" cy="164592"/>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05</a:t>
            </a:r>
          </a:p>
        </p:txBody>
      </p:sp>
      <p:sp>
        <p:nvSpPr>
          <p:cNvPr id="23" name="TextBox 22"/>
          <p:cNvSpPr txBox="1"/>
          <p:nvPr/>
        </p:nvSpPr>
        <p:spPr>
          <a:xfrm>
            <a:off x="8275319" y="2834640"/>
            <a:ext cx="1463040" cy="731520"/>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Approve</a:t>
            </a:r>
          </a:p>
        </p:txBody>
      </p:sp>
      <p:cxnSp>
        <p:nvCxnSpPr>
          <p:cNvPr id="24" name="Connector 23"/>
          <p:cNvCxnSpPr/>
          <p:nvPr/>
        </p:nvCxnSpPr>
        <p:spPr>
          <a:xfrm>
            <a:off x="9857232" y="3063240"/>
            <a:ext cx="192023" cy="0"/>
          </a:xfrm>
          <a:prstGeom prst="line">
            <a:avLst/>
          </a:prstGeom>
          <a:ln w="19050">
            <a:solidFill>
              <a:srgbClr val="008F9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76688" y="2377440"/>
            <a:ext cx="1645920" cy="1371600"/>
          </a:xfrm>
          <a:prstGeom prst="roundRect">
            <a:avLst/>
          </a:prstGeom>
          <a:solidFill>
            <a:srgbClr val="F0F4F6"/>
          </a:solidFill>
          <a:ln w="12700">
            <a:solidFill>
              <a:srgbClr val="008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3848" y="2542032"/>
            <a:ext cx="274320" cy="164592"/>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06</a:t>
            </a:r>
          </a:p>
        </p:txBody>
      </p:sp>
      <p:sp>
        <p:nvSpPr>
          <p:cNvPr id="27" name="TextBox 26"/>
          <p:cNvSpPr txBox="1"/>
          <p:nvPr/>
        </p:nvSpPr>
        <p:spPr>
          <a:xfrm>
            <a:off x="10168128" y="2834640"/>
            <a:ext cx="1463040" cy="731520"/>
          </a:xfrm>
          <a:prstGeom prst="rect">
            <a:avLst/>
          </a:prstGeom>
          <a:noFill/>
        </p:spPr>
        <p:txBody>
          <a:bodyPr wrap="square" lIns="0" rIns="0" tIns="0" bIns="0" anchor="ctr">
            <a:spAutoFit/>
          </a:bodyPr>
          <a:lstStyle/>
          <a:p>
            <a:pPr algn="ctr">
              <a:spcAft>
                <a:spcPts val="0"/>
              </a:spcAft>
              <a:defRPr sz="1800" b="1">
                <a:solidFill>
                  <a:srgbClr val="0C1E35"/>
                </a:solidFill>
                <a:latin typeface="Aptos"/>
              </a:defRPr>
            </a:pPr>
            <a:r>
              <a:t>Pay</a:t>
            </a:r>
          </a:p>
        </p:txBody>
      </p:sp>
      <p:sp>
        <p:nvSpPr>
          <p:cNvPr id="28" name="TextBox 27"/>
          <p:cNvSpPr txBox="1"/>
          <p:nvPr/>
        </p:nvSpPr>
        <p:spPr>
          <a:xfrm>
            <a:off x="612648" y="4343400"/>
            <a:ext cx="8229600" cy="365760"/>
          </a:xfrm>
          <a:prstGeom prst="rect">
            <a:avLst/>
          </a:prstGeom>
          <a:noFill/>
        </p:spPr>
        <p:txBody>
          <a:bodyPr wrap="square" lIns="0" rIns="0" tIns="0" bIns="0" anchor="t">
            <a:spAutoFit/>
          </a:bodyPr>
          <a:lstStyle/>
          <a:p>
            <a:pPr algn="l">
              <a:spcAft>
                <a:spcPts val="0"/>
              </a:spcAft>
              <a:defRPr sz="2400" b="1">
                <a:solidFill>
                  <a:srgbClr val="0C1E35"/>
                </a:solidFill>
                <a:latin typeface="Aptos"/>
              </a:defRPr>
            </a:pPr>
            <a:r>
              <a:t>No money moves before Approve and Lock.</a:t>
            </a:r>
          </a:p>
        </p:txBody>
      </p:sp>
      <p:sp>
        <p:nvSpPr>
          <p:cNvPr id="29" name="TextBox 28"/>
          <p:cNvSpPr txBox="1"/>
          <p:nvPr/>
        </p:nvSpPr>
        <p:spPr>
          <a:xfrm>
            <a:off x="612648" y="4892040"/>
            <a:ext cx="10515600" cy="640080"/>
          </a:xfrm>
          <a:prstGeom prst="rect">
            <a:avLst/>
          </a:prstGeom>
          <a:noFill/>
        </p:spPr>
        <p:txBody>
          <a:bodyPr wrap="square" lIns="0" rIns="0" tIns="0" bIns="0" anchor="t">
            <a:spAutoFit/>
          </a:bodyPr>
          <a:lstStyle/>
          <a:p>
            <a:pPr algn="l">
              <a:spcAft>
                <a:spcPts val="0"/>
              </a:spcAft>
              <a:defRPr sz="1800" b="0">
                <a:solidFill>
                  <a:srgbClr val="536270"/>
                </a:solidFill>
                <a:latin typeface="Aptos"/>
              </a:defRPr>
            </a:pPr>
            <a:r>
              <a:t>The delivered file is encrypted and its hash is recorded on chain; the key is released only after approval.</a:t>
            </a:r>
          </a:p>
        </p:txBody>
      </p:sp>
      <p:sp>
        <p:nvSpPr>
          <p:cNvPr id="30" name="TextBox 29"/>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31" name="TextBox 30"/>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29184"/>
            <a:ext cx="896112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AN ON-CHAIN REFUSAL</a:t>
            </a:r>
          </a:p>
        </p:txBody>
      </p:sp>
      <p:sp>
        <p:nvSpPr>
          <p:cNvPr id="3" name="TextBox 2"/>
          <p:cNvSpPr txBox="1"/>
          <p:nvPr/>
        </p:nvSpPr>
        <p:spPr>
          <a:xfrm>
            <a:off x="612648" y="603504"/>
            <a:ext cx="10972800" cy="932688"/>
          </a:xfrm>
          <a:prstGeom prst="rect">
            <a:avLst/>
          </a:prstGeom>
          <a:noFill/>
        </p:spPr>
        <p:txBody>
          <a:bodyPr wrap="square" lIns="0" rIns="0" tIns="0" bIns="0" anchor="t">
            <a:spAutoFit/>
          </a:bodyPr>
          <a:lstStyle/>
          <a:p>
            <a:pPr algn="l">
              <a:spcAft>
                <a:spcPts val="0"/>
              </a:spcAft>
              <a:defRPr sz="3600" b="1">
                <a:solidFill>
                  <a:srgbClr val="0C1E35"/>
                </a:solidFill>
                <a:latin typeface="Aptos Display"/>
              </a:defRPr>
            </a:pPr>
            <a:r>
              <a:t>Proof: the guard refuses the agent's own key</a:t>
            </a:r>
          </a:p>
        </p:txBody>
      </p:sp>
      <p:sp>
        <p:nvSpPr>
          <p:cNvPr id="4" name="Rectangle 3"/>
          <p:cNvSpPr/>
          <p:nvPr/>
        </p:nvSpPr>
        <p:spPr>
          <a:xfrm>
            <a:off x="612648" y="1572768"/>
            <a:ext cx="914400" cy="50292"/>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011680"/>
            <a:ext cx="4681728" cy="2514600"/>
          </a:xfrm>
          <a:prstGeom prst="roundRect">
            <a:avLst/>
          </a:prstGeom>
          <a:solidFill>
            <a:srgbClr val="0C1E35"/>
          </a:solidFill>
          <a:ln w="12700">
            <a:solidFill>
              <a:srgbClr val="0C1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2331720"/>
            <a:ext cx="1280160" cy="182880"/>
          </a:xfrm>
          <a:prstGeom prst="rect">
            <a:avLst/>
          </a:prstGeom>
          <a:noFill/>
        </p:spPr>
        <p:txBody>
          <a:bodyPr wrap="square" lIns="0" rIns="0" tIns="0" bIns="0" anchor="t">
            <a:spAutoFit/>
          </a:bodyPr>
          <a:lstStyle/>
          <a:p>
            <a:pPr algn="l">
              <a:spcAft>
                <a:spcPts val="0"/>
              </a:spcAft>
              <a:defRPr sz="1100" b="1">
                <a:solidFill>
                  <a:srgbClr val="6FE5DF"/>
                </a:solidFill>
                <a:latin typeface="Aptos Display"/>
              </a:defRPr>
            </a:pPr>
            <a:r>
              <a:t>TERMINAL</a:t>
            </a:r>
          </a:p>
        </p:txBody>
      </p:sp>
      <p:sp>
        <p:nvSpPr>
          <p:cNvPr id="7" name="TextBox 6"/>
          <p:cNvSpPr txBox="1"/>
          <p:nvPr/>
        </p:nvSpPr>
        <p:spPr>
          <a:xfrm>
            <a:off x="1024128" y="2834640"/>
            <a:ext cx="4096512" cy="384048"/>
          </a:xfrm>
          <a:prstGeom prst="rect">
            <a:avLst/>
          </a:prstGeom>
          <a:noFill/>
        </p:spPr>
        <p:txBody>
          <a:bodyPr wrap="square" lIns="0" rIns="0" tIns="0" bIns="0" anchor="t">
            <a:spAutoFit/>
          </a:bodyPr>
          <a:lstStyle/>
          <a:p>
            <a:pPr algn="l">
              <a:spcAft>
                <a:spcPts val="0"/>
              </a:spcAft>
              <a:defRPr sz="1800" b="1">
                <a:solidFill>
                  <a:srgbClr val="FFFFFF"/>
                </a:solidFill>
                <a:latin typeface="Courier New"/>
              </a:defRPr>
            </a:pPr>
            <a:r>
              <a:t>cast receipt 0x7f47a0c1...011f3191</a:t>
            </a:r>
          </a:p>
        </p:txBody>
      </p:sp>
      <p:sp>
        <p:nvSpPr>
          <p:cNvPr id="8" name="TextBox 7"/>
          <p:cNvSpPr txBox="1"/>
          <p:nvPr/>
        </p:nvSpPr>
        <p:spPr>
          <a:xfrm>
            <a:off x="1024128" y="3520440"/>
            <a:ext cx="3886200" cy="228600"/>
          </a:xfrm>
          <a:prstGeom prst="rect">
            <a:avLst/>
          </a:prstGeom>
          <a:noFill/>
        </p:spPr>
        <p:txBody>
          <a:bodyPr wrap="square" lIns="0" rIns="0" tIns="0" bIns="0" anchor="t">
            <a:spAutoFit/>
          </a:bodyPr>
          <a:lstStyle/>
          <a:p>
            <a:pPr algn="l">
              <a:spcAft>
                <a:spcPts val="0"/>
              </a:spcAft>
              <a:defRPr sz="1600" b="0">
                <a:solidFill>
                  <a:srgbClr val="C9D6DF"/>
                </a:solidFill>
                <a:latin typeface="Aptos"/>
              </a:defRPr>
            </a:pPr>
            <a:r>
              <a:t>agentTransfer to a stranger reverted:</a:t>
            </a:r>
          </a:p>
        </p:txBody>
      </p:sp>
      <p:sp>
        <p:nvSpPr>
          <p:cNvPr id="9" name="TextBox 8"/>
          <p:cNvSpPr txBox="1"/>
          <p:nvPr/>
        </p:nvSpPr>
        <p:spPr>
          <a:xfrm>
            <a:off x="1024128" y="3858768"/>
            <a:ext cx="3886200" cy="256032"/>
          </a:xfrm>
          <a:prstGeom prst="rect">
            <a:avLst/>
          </a:prstGeom>
          <a:noFill/>
        </p:spPr>
        <p:txBody>
          <a:bodyPr wrap="square" lIns="0" rIns="0" tIns="0" bIns="0" anchor="t">
            <a:spAutoFit/>
          </a:bodyPr>
          <a:lstStyle/>
          <a:p>
            <a:pPr algn="l">
              <a:spcAft>
                <a:spcPts val="0"/>
              </a:spcAft>
              <a:defRPr sz="1900" b="1">
                <a:solidFill>
                  <a:srgbClr val="6FE5DF"/>
                </a:solidFill>
                <a:latin typeface="Courier New"/>
              </a:defRPr>
            </a:pPr>
            <a:r>
              <a:t>RecipientNotAllowed</a:t>
            </a:r>
          </a:p>
        </p:txBody>
      </p:sp>
      <p:sp>
        <p:nvSpPr>
          <p:cNvPr id="10" name="Rectangle 9"/>
          <p:cNvSpPr/>
          <p:nvPr/>
        </p:nvSpPr>
        <p:spPr>
          <a:xfrm>
            <a:off x="5897880" y="2011680"/>
            <a:ext cx="5468112" cy="2514600"/>
          </a:xfrm>
          <a:prstGeom prst="rect">
            <a:avLst/>
          </a:prstGeom>
          <a:solidFill>
            <a:srgbClr val="D2D7DB"/>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2926080"/>
            <a:ext cx="4800600" cy="594360"/>
          </a:xfrm>
          <a:prstGeom prst="rect">
            <a:avLst/>
          </a:prstGeom>
          <a:noFill/>
        </p:spPr>
        <p:txBody>
          <a:bodyPr wrap="square" lIns="0" rIns="0" tIns="0" bIns="0" anchor="ctr">
            <a:spAutoFit/>
          </a:bodyPr>
          <a:lstStyle/>
          <a:p>
            <a:pPr algn="ctr">
              <a:spcAft>
                <a:spcPts val="0"/>
              </a:spcAft>
              <a:defRPr sz="1700" b="1">
                <a:solidFill>
                  <a:srgbClr val="536270"/>
                </a:solidFill>
                <a:latin typeface="Aptos"/>
              </a:defRPr>
            </a:pPr>
            <a:r>
              <a:t>[SCREENSHOT: explorer tx</a:t>
            </a:r>
            <a:br/>
            <a:r>
              <a:t>0x7f47a0c1...011f3191]</a:t>
            </a:r>
          </a:p>
        </p:txBody>
      </p:sp>
      <p:sp>
        <p:nvSpPr>
          <p:cNvPr id="12" name="TextBox 11"/>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13" name="TextBox 12"/>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29184"/>
            <a:ext cx="896112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THE PRODUCT BEYOND THE CONTRACT</a:t>
            </a:r>
          </a:p>
        </p:txBody>
      </p:sp>
      <p:sp>
        <p:nvSpPr>
          <p:cNvPr id="3" name="TextBox 2"/>
          <p:cNvSpPr txBox="1"/>
          <p:nvPr/>
        </p:nvSpPr>
        <p:spPr>
          <a:xfrm>
            <a:off x="612648" y="603504"/>
            <a:ext cx="10972800" cy="932688"/>
          </a:xfrm>
          <a:prstGeom prst="rect">
            <a:avLst/>
          </a:prstGeom>
          <a:noFill/>
        </p:spPr>
        <p:txBody>
          <a:bodyPr wrap="square" lIns="0" rIns="0" tIns="0" bIns="0" anchor="t">
            <a:spAutoFit/>
          </a:bodyPr>
          <a:lstStyle/>
          <a:p>
            <a:pPr algn="l">
              <a:spcAft>
                <a:spcPts val="0"/>
              </a:spcAft>
              <a:defRPr sz="3600" b="1">
                <a:solidFill>
                  <a:srgbClr val="0C1E35"/>
                </a:solidFill>
                <a:latin typeface="Aptos Display"/>
              </a:defRPr>
            </a:pPr>
            <a:r>
              <a:t>Built around the core</a:t>
            </a:r>
          </a:p>
        </p:txBody>
      </p:sp>
      <p:sp>
        <p:nvSpPr>
          <p:cNvPr id="4" name="Rectangle 3"/>
          <p:cNvSpPr/>
          <p:nvPr/>
        </p:nvSpPr>
        <p:spPr>
          <a:xfrm>
            <a:off x="612648" y="1572768"/>
            <a:ext cx="914400" cy="50292"/>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65960"/>
            <a:ext cx="3218688" cy="120700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167128"/>
            <a:ext cx="347472" cy="182880"/>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01</a:t>
            </a:r>
          </a:p>
        </p:txBody>
      </p:sp>
      <p:sp>
        <p:nvSpPr>
          <p:cNvPr id="7" name="TextBox 6"/>
          <p:cNvSpPr txBox="1"/>
          <p:nvPr/>
        </p:nvSpPr>
        <p:spPr>
          <a:xfrm>
            <a:off x="1435607" y="2240279"/>
            <a:ext cx="2267712" cy="658368"/>
          </a:xfrm>
          <a:prstGeom prst="rect">
            <a:avLst/>
          </a:prstGeom>
          <a:noFill/>
        </p:spPr>
        <p:txBody>
          <a:bodyPr wrap="square" lIns="0" rIns="0" tIns="0" bIns="0" anchor="ctr">
            <a:spAutoFit/>
          </a:bodyPr>
          <a:lstStyle/>
          <a:p>
            <a:pPr algn="l">
              <a:spcAft>
                <a:spcPts val="0"/>
              </a:spcAft>
              <a:defRPr sz="2000" b="1">
                <a:solidFill>
                  <a:srgbClr val="0C1E35"/>
                </a:solidFill>
                <a:latin typeface="Aptos"/>
              </a:defRPr>
            </a:pPr>
            <a:r>
              <a:t>Desktop app</a:t>
            </a:r>
            <a:br/>
            <a:r>
              <a:t>Windows, macOS, 0.6.3</a:t>
            </a:r>
          </a:p>
        </p:txBody>
      </p:sp>
      <p:sp>
        <p:nvSpPr>
          <p:cNvPr id="8" name="Rounded Rectangle 7"/>
          <p:cNvSpPr/>
          <p:nvPr/>
        </p:nvSpPr>
        <p:spPr>
          <a:xfrm>
            <a:off x="4544568" y="1965960"/>
            <a:ext cx="3218688" cy="120700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5736" y="2167128"/>
            <a:ext cx="347472" cy="182880"/>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02</a:t>
            </a:r>
          </a:p>
        </p:txBody>
      </p:sp>
      <p:sp>
        <p:nvSpPr>
          <p:cNvPr id="10" name="TextBox 9"/>
          <p:cNvSpPr txBox="1"/>
          <p:nvPr/>
        </p:nvSpPr>
        <p:spPr>
          <a:xfrm>
            <a:off x="5202936" y="2240279"/>
            <a:ext cx="2267712" cy="658368"/>
          </a:xfrm>
          <a:prstGeom prst="rect">
            <a:avLst/>
          </a:prstGeom>
          <a:noFill/>
        </p:spPr>
        <p:txBody>
          <a:bodyPr wrap="square" lIns="0" rIns="0" tIns="0" bIns="0" anchor="ctr">
            <a:spAutoFit/>
          </a:bodyPr>
          <a:lstStyle/>
          <a:p>
            <a:pPr algn="l">
              <a:spcAft>
                <a:spcPts val="0"/>
              </a:spcAft>
              <a:defRPr sz="2000" b="1">
                <a:solidFill>
                  <a:srgbClr val="0C1E35"/>
                </a:solidFill>
                <a:latin typeface="Aptos"/>
              </a:defRPr>
            </a:pPr>
            <a:r>
              <a:t>Company accounts</a:t>
            </a:r>
            <a:br/>
            <a:r>
              <a:t>and group votes</a:t>
            </a:r>
          </a:p>
        </p:txBody>
      </p:sp>
      <p:sp>
        <p:nvSpPr>
          <p:cNvPr id="11" name="Rounded Rectangle 10"/>
          <p:cNvSpPr/>
          <p:nvPr/>
        </p:nvSpPr>
        <p:spPr>
          <a:xfrm>
            <a:off x="8311896" y="1965960"/>
            <a:ext cx="3218688" cy="120700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13064" y="2167128"/>
            <a:ext cx="347472" cy="182880"/>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03</a:t>
            </a:r>
          </a:p>
        </p:txBody>
      </p:sp>
      <p:sp>
        <p:nvSpPr>
          <p:cNvPr id="13" name="TextBox 12"/>
          <p:cNvSpPr txBox="1"/>
          <p:nvPr/>
        </p:nvSpPr>
        <p:spPr>
          <a:xfrm>
            <a:off x="8970264" y="2240279"/>
            <a:ext cx="2267712" cy="658368"/>
          </a:xfrm>
          <a:prstGeom prst="rect">
            <a:avLst/>
          </a:prstGeom>
          <a:noFill/>
        </p:spPr>
        <p:txBody>
          <a:bodyPr wrap="square" lIns="0" rIns="0" tIns="0" bIns="0" anchor="ctr">
            <a:spAutoFit/>
          </a:bodyPr>
          <a:lstStyle/>
          <a:p>
            <a:pPr algn="l">
              <a:spcAft>
                <a:spcPts val="0"/>
              </a:spcAft>
              <a:defRPr sz="2000" b="1">
                <a:solidFill>
                  <a:srgbClr val="0C1E35"/>
                </a:solidFill>
                <a:latin typeface="Aptos"/>
              </a:defRPr>
            </a:pPr>
            <a:r>
              <a:t>KYC</a:t>
            </a:r>
            <a:br/>
            <a:r>
              <a:t>PromptPay / card top-ups (test)</a:t>
            </a:r>
          </a:p>
        </p:txBody>
      </p:sp>
      <p:sp>
        <p:nvSpPr>
          <p:cNvPr id="14" name="Rounded Rectangle 13"/>
          <p:cNvSpPr/>
          <p:nvPr/>
        </p:nvSpPr>
        <p:spPr>
          <a:xfrm>
            <a:off x="777240" y="3630168"/>
            <a:ext cx="3218688" cy="120700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831335"/>
            <a:ext cx="347472" cy="182880"/>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04</a:t>
            </a:r>
          </a:p>
        </p:txBody>
      </p:sp>
      <p:sp>
        <p:nvSpPr>
          <p:cNvPr id="16" name="TextBox 15"/>
          <p:cNvSpPr txBox="1"/>
          <p:nvPr/>
        </p:nvSpPr>
        <p:spPr>
          <a:xfrm>
            <a:off x="1435607" y="3904487"/>
            <a:ext cx="2267712" cy="658368"/>
          </a:xfrm>
          <a:prstGeom prst="rect">
            <a:avLst/>
          </a:prstGeom>
          <a:noFill/>
        </p:spPr>
        <p:txBody>
          <a:bodyPr wrap="square" lIns="0" rIns="0" tIns="0" bIns="0" anchor="ctr">
            <a:spAutoFit/>
          </a:bodyPr>
          <a:lstStyle/>
          <a:p>
            <a:pPr algn="l">
              <a:spcAft>
                <a:spcPts val="0"/>
              </a:spcAft>
              <a:defRPr sz="2000" b="1">
                <a:solidFill>
                  <a:srgbClr val="0C1E35"/>
                </a:solidFill>
                <a:latin typeface="Aptos"/>
              </a:defRPr>
            </a:pPr>
            <a:r>
              <a:t>Split payment</a:t>
            </a:r>
          </a:p>
        </p:txBody>
      </p:sp>
      <p:sp>
        <p:nvSpPr>
          <p:cNvPr id="17" name="Rounded Rectangle 16"/>
          <p:cNvSpPr/>
          <p:nvPr/>
        </p:nvSpPr>
        <p:spPr>
          <a:xfrm>
            <a:off x="4544568" y="3630168"/>
            <a:ext cx="3218688" cy="120700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45736" y="3831335"/>
            <a:ext cx="347472" cy="182880"/>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05</a:t>
            </a:r>
          </a:p>
        </p:txBody>
      </p:sp>
      <p:sp>
        <p:nvSpPr>
          <p:cNvPr id="19" name="TextBox 18"/>
          <p:cNvSpPr txBox="1"/>
          <p:nvPr/>
        </p:nvSpPr>
        <p:spPr>
          <a:xfrm>
            <a:off x="5202936" y="3904487"/>
            <a:ext cx="2267712" cy="658368"/>
          </a:xfrm>
          <a:prstGeom prst="rect">
            <a:avLst/>
          </a:prstGeom>
          <a:noFill/>
        </p:spPr>
        <p:txBody>
          <a:bodyPr wrap="square" lIns="0" rIns="0" tIns="0" bIns="0" anchor="ctr">
            <a:spAutoFit/>
          </a:bodyPr>
          <a:lstStyle/>
          <a:p>
            <a:pPr algn="l">
              <a:spcAft>
                <a:spcPts val="0"/>
              </a:spcAft>
              <a:defRPr sz="2000" b="1">
                <a:solidFill>
                  <a:srgbClr val="0C1E35"/>
                </a:solidFill>
                <a:latin typeface="Aptos"/>
              </a:defRPr>
            </a:pPr>
            <a:r>
              <a:t>Public job links</a:t>
            </a:r>
          </a:p>
        </p:txBody>
      </p:sp>
      <p:sp>
        <p:nvSpPr>
          <p:cNvPr id="20" name="Rounded Rectangle 19"/>
          <p:cNvSpPr/>
          <p:nvPr/>
        </p:nvSpPr>
        <p:spPr>
          <a:xfrm>
            <a:off x="8311896" y="3630168"/>
            <a:ext cx="3218688" cy="1207008"/>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13064" y="3831335"/>
            <a:ext cx="347472" cy="182880"/>
          </a:xfrm>
          <a:prstGeom prst="rect">
            <a:avLst/>
          </a:prstGeom>
          <a:noFill/>
        </p:spPr>
        <p:txBody>
          <a:bodyPr wrap="square" lIns="0" rIns="0" tIns="0" bIns="0" anchor="t">
            <a:spAutoFit/>
          </a:bodyPr>
          <a:lstStyle/>
          <a:p>
            <a:pPr algn="l">
              <a:spcAft>
                <a:spcPts val="0"/>
              </a:spcAft>
              <a:defRPr sz="1100" b="1">
                <a:solidFill>
                  <a:srgbClr val="008F97"/>
                </a:solidFill>
                <a:latin typeface="Aptos"/>
              </a:defRPr>
            </a:pPr>
            <a:r>
              <a:t>06</a:t>
            </a:r>
          </a:p>
        </p:txBody>
      </p:sp>
      <p:sp>
        <p:nvSpPr>
          <p:cNvPr id="22" name="TextBox 21"/>
          <p:cNvSpPr txBox="1"/>
          <p:nvPr/>
        </p:nvSpPr>
        <p:spPr>
          <a:xfrm>
            <a:off x="8970264" y="3904487"/>
            <a:ext cx="2267712" cy="658368"/>
          </a:xfrm>
          <a:prstGeom prst="rect">
            <a:avLst/>
          </a:prstGeom>
          <a:noFill/>
        </p:spPr>
        <p:txBody>
          <a:bodyPr wrap="square" lIns="0" rIns="0" tIns="0" bIns="0" anchor="ctr">
            <a:spAutoFit/>
          </a:bodyPr>
          <a:lstStyle/>
          <a:p>
            <a:pPr algn="l">
              <a:spcAft>
                <a:spcPts val="0"/>
              </a:spcAft>
              <a:defRPr sz="2000" b="1">
                <a:solidFill>
                  <a:srgbClr val="0C1E35"/>
                </a:solidFill>
                <a:latin typeface="Aptos"/>
              </a:defRPr>
            </a:pPr>
            <a:r>
              <a:t>Multi-model</a:t>
            </a:r>
            <a:br/>
            <a:r>
              <a:t>neutral arbiter</a:t>
            </a:r>
          </a:p>
        </p:txBody>
      </p:sp>
      <p:sp>
        <p:nvSpPr>
          <p:cNvPr id="23" name="TextBox 22"/>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24" name="TextBox 23"/>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29184"/>
            <a:ext cx="896112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ATTACK THE SYSTEM; REPRODUCE THE BUG; FIX IT</a:t>
            </a:r>
          </a:p>
        </p:txBody>
      </p:sp>
      <p:sp>
        <p:nvSpPr>
          <p:cNvPr id="3" name="TextBox 2"/>
          <p:cNvSpPr txBox="1"/>
          <p:nvPr/>
        </p:nvSpPr>
        <p:spPr>
          <a:xfrm>
            <a:off x="612648" y="603504"/>
            <a:ext cx="10972800" cy="932688"/>
          </a:xfrm>
          <a:prstGeom prst="rect">
            <a:avLst/>
          </a:prstGeom>
          <a:noFill/>
        </p:spPr>
        <p:txBody>
          <a:bodyPr wrap="square" lIns="0" rIns="0" tIns="0" bIns="0" anchor="t">
            <a:spAutoFit/>
          </a:bodyPr>
          <a:lstStyle/>
          <a:p>
            <a:pPr algn="l">
              <a:spcAft>
                <a:spcPts val="0"/>
              </a:spcAft>
              <a:defRPr sz="3600" b="1">
                <a:solidFill>
                  <a:srgbClr val="0C1E35"/>
                </a:solidFill>
                <a:latin typeface="Aptos Display"/>
              </a:defRPr>
            </a:pPr>
            <a:r>
              <a:t>How we tested it</a:t>
            </a:r>
          </a:p>
        </p:txBody>
      </p:sp>
      <p:sp>
        <p:nvSpPr>
          <p:cNvPr id="4" name="Rectangle 3"/>
          <p:cNvSpPr/>
          <p:nvPr/>
        </p:nvSpPr>
        <p:spPr>
          <a:xfrm>
            <a:off x="612648" y="1572768"/>
            <a:ext cx="914400" cy="50292"/>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01952"/>
            <a:ext cx="1261872" cy="493776"/>
          </a:xfrm>
          <a:prstGeom prst="rect">
            <a:avLst/>
          </a:prstGeom>
          <a:noFill/>
        </p:spPr>
        <p:txBody>
          <a:bodyPr wrap="square" lIns="0" rIns="0" tIns="0" bIns="0" anchor="t">
            <a:spAutoFit/>
          </a:bodyPr>
          <a:lstStyle/>
          <a:p>
            <a:pPr algn="r">
              <a:spcAft>
                <a:spcPts val="0"/>
              </a:spcAft>
              <a:defRPr sz="3200" b="1">
                <a:solidFill>
                  <a:srgbClr val="008F97"/>
                </a:solidFill>
                <a:latin typeface="Aptos Display"/>
              </a:defRPr>
            </a:pPr>
            <a:r>
              <a:t>115</a:t>
            </a:r>
          </a:p>
        </p:txBody>
      </p:sp>
      <p:sp>
        <p:nvSpPr>
          <p:cNvPr id="6" name="TextBox 5"/>
          <p:cNvSpPr txBox="1"/>
          <p:nvPr/>
        </p:nvSpPr>
        <p:spPr>
          <a:xfrm>
            <a:off x="2240280" y="2011680"/>
            <a:ext cx="2057400" cy="256032"/>
          </a:xfrm>
          <a:prstGeom prst="rect">
            <a:avLst/>
          </a:prstGeom>
          <a:noFill/>
        </p:spPr>
        <p:txBody>
          <a:bodyPr wrap="square" lIns="0" rIns="0" tIns="0" bIns="0" anchor="t">
            <a:spAutoFit/>
          </a:bodyPr>
          <a:lstStyle/>
          <a:p>
            <a:pPr algn="l">
              <a:spcAft>
                <a:spcPts val="0"/>
              </a:spcAft>
              <a:defRPr sz="2000" b="1">
                <a:solidFill>
                  <a:srgbClr val="0C1E35"/>
                </a:solidFill>
                <a:latin typeface="Aptos"/>
              </a:defRPr>
            </a:pPr>
            <a:r>
              <a:t>contract tests</a:t>
            </a:r>
          </a:p>
        </p:txBody>
      </p:sp>
      <p:sp>
        <p:nvSpPr>
          <p:cNvPr id="7" name="TextBox 6"/>
          <p:cNvSpPr txBox="1"/>
          <p:nvPr/>
        </p:nvSpPr>
        <p:spPr>
          <a:xfrm>
            <a:off x="822960" y="2907792"/>
            <a:ext cx="1261872" cy="493776"/>
          </a:xfrm>
          <a:prstGeom prst="rect">
            <a:avLst/>
          </a:prstGeom>
          <a:noFill/>
        </p:spPr>
        <p:txBody>
          <a:bodyPr wrap="square" lIns="0" rIns="0" tIns="0" bIns="0" anchor="t">
            <a:spAutoFit/>
          </a:bodyPr>
          <a:lstStyle/>
          <a:p>
            <a:pPr algn="r">
              <a:spcAft>
                <a:spcPts val="0"/>
              </a:spcAft>
              <a:defRPr sz="3200" b="1">
                <a:solidFill>
                  <a:srgbClr val="008F97"/>
                </a:solidFill>
                <a:latin typeface="Aptos Display"/>
              </a:defRPr>
            </a:pPr>
            <a:r>
              <a:t>15</a:t>
            </a:r>
          </a:p>
        </p:txBody>
      </p:sp>
      <p:sp>
        <p:nvSpPr>
          <p:cNvPr id="8" name="TextBox 7"/>
          <p:cNvSpPr txBox="1"/>
          <p:nvPr/>
        </p:nvSpPr>
        <p:spPr>
          <a:xfrm>
            <a:off x="2240280" y="3017520"/>
            <a:ext cx="2057400" cy="256032"/>
          </a:xfrm>
          <a:prstGeom prst="rect">
            <a:avLst/>
          </a:prstGeom>
          <a:noFill/>
        </p:spPr>
        <p:txBody>
          <a:bodyPr wrap="square" lIns="0" rIns="0" tIns="0" bIns="0" anchor="t">
            <a:spAutoFit/>
          </a:bodyPr>
          <a:lstStyle/>
          <a:p>
            <a:pPr algn="l">
              <a:spcAft>
                <a:spcPts val="0"/>
              </a:spcAft>
              <a:defRPr sz="2000" b="1">
                <a:solidFill>
                  <a:srgbClr val="0C1E35"/>
                </a:solidFill>
                <a:latin typeface="Aptos"/>
              </a:defRPr>
            </a:pPr>
            <a:r>
              <a:t>web security tests</a:t>
            </a:r>
          </a:p>
        </p:txBody>
      </p:sp>
      <p:sp>
        <p:nvSpPr>
          <p:cNvPr id="9" name="TextBox 8"/>
          <p:cNvSpPr txBox="1"/>
          <p:nvPr/>
        </p:nvSpPr>
        <p:spPr>
          <a:xfrm>
            <a:off x="822960" y="3913632"/>
            <a:ext cx="1261872" cy="493776"/>
          </a:xfrm>
          <a:prstGeom prst="rect">
            <a:avLst/>
          </a:prstGeom>
          <a:noFill/>
        </p:spPr>
        <p:txBody>
          <a:bodyPr wrap="square" lIns="0" rIns="0" tIns="0" bIns="0" anchor="t">
            <a:spAutoFit/>
          </a:bodyPr>
          <a:lstStyle/>
          <a:p>
            <a:pPr algn="r">
              <a:spcAft>
                <a:spcPts val="0"/>
              </a:spcAft>
              <a:defRPr sz="3200" b="1">
                <a:solidFill>
                  <a:srgbClr val="008F97"/>
                </a:solidFill>
                <a:latin typeface="Aptos Display"/>
              </a:defRPr>
            </a:pPr>
            <a:r>
              <a:t>22</a:t>
            </a:r>
          </a:p>
        </p:txBody>
      </p:sp>
      <p:sp>
        <p:nvSpPr>
          <p:cNvPr id="10" name="TextBox 9"/>
          <p:cNvSpPr txBox="1"/>
          <p:nvPr/>
        </p:nvSpPr>
        <p:spPr>
          <a:xfrm>
            <a:off x="2240280" y="4023360"/>
            <a:ext cx="2057400" cy="256032"/>
          </a:xfrm>
          <a:prstGeom prst="rect">
            <a:avLst/>
          </a:prstGeom>
          <a:noFill/>
        </p:spPr>
        <p:txBody>
          <a:bodyPr wrap="square" lIns="0" rIns="0" tIns="0" bIns="0" anchor="t">
            <a:spAutoFit/>
          </a:bodyPr>
          <a:lstStyle/>
          <a:p>
            <a:pPr algn="l">
              <a:spcAft>
                <a:spcPts val="0"/>
              </a:spcAft>
              <a:defRPr sz="2000" b="1">
                <a:solidFill>
                  <a:srgbClr val="0C1E35"/>
                </a:solidFill>
                <a:latin typeface="Aptos"/>
              </a:defRPr>
            </a:pPr>
            <a:r>
              <a:t>step smoke test</a:t>
            </a:r>
          </a:p>
        </p:txBody>
      </p:sp>
      <p:sp>
        <p:nvSpPr>
          <p:cNvPr id="11" name="Rounded Rectangle 10"/>
          <p:cNvSpPr/>
          <p:nvPr/>
        </p:nvSpPr>
        <p:spPr>
          <a:xfrm>
            <a:off x="4983480" y="1828800"/>
            <a:ext cx="6199632" cy="4023360"/>
          </a:xfrm>
          <a:prstGeom prst="roundRect">
            <a:avLst/>
          </a:prstGeom>
          <a:solidFill>
            <a:srgbClr val="FFFFFF"/>
          </a:solidFill>
          <a:ln w="12700">
            <a:solidFill>
              <a:srgbClr val="CF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66944" y="2121408"/>
            <a:ext cx="1005840" cy="18288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FOUND</a:t>
            </a:r>
          </a:p>
        </p:txBody>
      </p:sp>
      <p:sp>
        <p:nvSpPr>
          <p:cNvPr id="13" name="TextBox 12"/>
          <p:cNvSpPr txBox="1"/>
          <p:nvPr/>
        </p:nvSpPr>
        <p:spPr>
          <a:xfrm>
            <a:off x="5285232" y="2606040"/>
            <a:ext cx="182880" cy="182880"/>
          </a:xfrm>
          <a:prstGeom prst="rect">
            <a:avLst/>
          </a:prstGeom>
          <a:noFill/>
        </p:spPr>
        <p:txBody>
          <a:bodyPr wrap="square" lIns="0" rIns="0" tIns="0" bIns="0" anchor="t">
            <a:spAutoFit/>
          </a:bodyPr>
          <a:lstStyle/>
          <a:p>
            <a:pPr algn="l">
              <a:spcAft>
                <a:spcPts val="0"/>
              </a:spcAft>
              <a:defRPr sz="1800" b="1">
                <a:solidFill>
                  <a:srgbClr val="008F97"/>
                </a:solidFill>
                <a:latin typeface="Aptos"/>
              </a:defRPr>
            </a:pPr>
            <a:r>
              <a:t>•</a:t>
            </a:r>
          </a:p>
        </p:txBody>
      </p:sp>
      <p:sp>
        <p:nvSpPr>
          <p:cNvPr id="14" name="TextBox 13"/>
          <p:cNvSpPr txBox="1"/>
          <p:nvPr/>
        </p:nvSpPr>
        <p:spPr>
          <a:xfrm>
            <a:off x="5577840" y="2596896"/>
            <a:ext cx="5120640" cy="384048"/>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High — refund paid twice</a:t>
            </a:r>
          </a:p>
        </p:txBody>
      </p:sp>
      <p:sp>
        <p:nvSpPr>
          <p:cNvPr id="15" name="TextBox 14"/>
          <p:cNvSpPr txBox="1"/>
          <p:nvPr/>
        </p:nvSpPr>
        <p:spPr>
          <a:xfrm>
            <a:off x="5285232" y="3429000"/>
            <a:ext cx="182880" cy="182880"/>
          </a:xfrm>
          <a:prstGeom prst="rect">
            <a:avLst/>
          </a:prstGeom>
          <a:noFill/>
        </p:spPr>
        <p:txBody>
          <a:bodyPr wrap="square" lIns="0" rIns="0" tIns="0" bIns="0" anchor="t">
            <a:spAutoFit/>
          </a:bodyPr>
          <a:lstStyle/>
          <a:p>
            <a:pPr algn="l">
              <a:spcAft>
                <a:spcPts val="0"/>
              </a:spcAft>
              <a:defRPr sz="1800" b="1">
                <a:solidFill>
                  <a:srgbClr val="008F97"/>
                </a:solidFill>
                <a:latin typeface="Aptos"/>
              </a:defRPr>
            </a:pPr>
            <a:r>
              <a:t>•</a:t>
            </a:r>
          </a:p>
        </p:txBody>
      </p:sp>
      <p:sp>
        <p:nvSpPr>
          <p:cNvPr id="16" name="TextBox 15"/>
          <p:cNvSpPr txBox="1"/>
          <p:nvPr/>
        </p:nvSpPr>
        <p:spPr>
          <a:xfrm>
            <a:off x="5577840" y="3419856"/>
            <a:ext cx="5120640" cy="384048"/>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High — non-signer could spend company money</a:t>
            </a:r>
          </a:p>
        </p:txBody>
      </p:sp>
      <p:sp>
        <p:nvSpPr>
          <p:cNvPr id="17" name="TextBox 16"/>
          <p:cNvSpPr txBox="1"/>
          <p:nvPr/>
        </p:nvSpPr>
        <p:spPr>
          <a:xfrm>
            <a:off x="5285232" y="4251960"/>
            <a:ext cx="182880" cy="182880"/>
          </a:xfrm>
          <a:prstGeom prst="rect">
            <a:avLst/>
          </a:prstGeom>
          <a:noFill/>
        </p:spPr>
        <p:txBody>
          <a:bodyPr wrap="square" lIns="0" rIns="0" tIns="0" bIns="0" anchor="t">
            <a:spAutoFit/>
          </a:bodyPr>
          <a:lstStyle/>
          <a:p>
            <a:pPr algn="l">
              <a:spcAft>
                <a:spcPts val="0"/>
              </a:spcAft>
              <a:defRPr sz="1800" b="1">
                <a:solidFill>
                  <a:srgbClr val="008F97"/>
                </a:solidFill>
                <a:latin typeface="Aptos"/>
              </a:defRPr>
            </a:pPr>
            <a:r>
              <a:t>•</a:t>
            </a:r>
          </a:p>
        </p:txBody>
      </p:sp>
      <p:sp>
        <p:nvSpPr>
          <p:cNvPr id="18" name="TextBox 17"/>
          <p:cNvSpPr txBox="1"/>
          <p:nvPr/>
        </p:nvSpPr>
        <p:spPr>
          <a:xfrm>
            <a:off x="5577840" y="4242816"/>
            <a:ext cx="5120640" cy="384048"/>
          </a:xfrm>
          <a:prstGeom prst="rect">
            <a:avLst/>
          </a:prstGeom>
          <a:noFill/>
        </p:spPr>
        <p:txBody>
          <a:bodyPr wrap="square" lIns="0" rIns="0" tIns="0" bIns="0" anchor="t">
            <a:spAutoFit/>
          </a:bodyPr>
          <a:lstStyle/>
          <a:p>
            <a:pPr algn="l">
              <a:spcAft>
                <a:spcPts val="0"/>
              </a:spcAft>
              <a:defRPr sz="2000" b="1">
                <a:solidFill>
                  <a:srgbClr val="141F2B"/>
                </a:solidFill>
                <a:latin typeface="Aptos"/>
              </a:defRPr>
            </a:pPr>
            <a:r>
              <a:t>Silent arbiter locks funds → 7-day timeout</a:t>
            </a:r>
          </a:p>
        </p:txBody>
      </p:sp>
      <p:sp>
        <p:nvSpPr>
          <p:cNvPr id="19" name="TextBox 18"/>
          <p:cNvSpPr txBox="1"/>
          <p:nvPr/>
        </p:nvSpPr>
        <p:spPr>
          <a:xfrm>
            <a:off x="5285232" y="5303520"/>
            <a:ext cx="5486400" cy="274320"/>
          </a:xfrm>
          <a:prstGeom prst="rect">
            <a:avLst/>
          </a:prstGeom>
          <a:noFill/>
        </p:spPr>
        <p:txBody>
          <a:bodyPr wrap="square" lIns="0" rIns="0" tIns="0" bIns="0" anchor="t">
            <a:spAutoFit/>
          </a:bodyPr>
          <a:lstStyle/>
          <a:p>
            <a:pPr algn="l">
              <a:spcAft>
                <a:spcPts val="0"/>
              </a:spcAft>
              <a:defRPr sz="1600" b="1">
                <a:solidFill>
                  <a:srgbClr val="536270"/>
                </a:solidFill>
                <a:latin typeface="Aptos"/>
              </a:defRPr>
            </a:pPr>
            <a:r>
              <a:t>Fixes in review (pull request awaiting merge)</a:t>
            </a:r>
          </a:p>
        </p:txBody>
      </p:sp>
      <p:sp>
        <p:nvSpPr>
          <p:cNvPr id="20" name="TextBox 19"/>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21" name="TextBox 20"/>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29184"/>
            <a:ext cx="896112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WHAT THE DEMO DOES NOT CLAIM</a:t>
            </a:r>
          </a:p>
        </p:txBody>
      </p:sp>
      <p:sp>
        <p:nvSpPr>
          <p:cNvPr id="3" name="TextBox 2"/>
          <p:cNvSpPr txBox="1"/>
          <p:nvPr/>
        </p:nvSpPr>
        <p:spPr>
          <a:xfrm>
            <a:off x="612648" y="603504"/>
            <a:ext cx="10972800" cy="932688"/>
          </a:xfrm>
          <a:prstGeom prst="rect">
            <a:avLst/>
          </a:prstGeom>
          <a:noFill/>
        </p:spPr>
        <p:txBody>
          <a:bodyPr wrap="square" lIns="0" rIns="0" tIns="0" bIns="0" anchor="t">
            <a:spAutoFit/>
          </a:bodyPr>
          <a:lstStyle/>
          <a:p>
            <a:pPr algn="l">
              <a:spcAft>
                <a:spcPts val="0"/>
              </a:spcAft>
              <a:defRPr sz="3600" b="1">
                <a:solidFill>
                  <a:srgbClr val="0C1E35"/>
                </a:solidFill>
                <a:latin typeface="Aptos Display"/>
              </a:defRPr>
            </a:pPr>
            <a:r>
              <a:t>Known risks, next steps</a:t>
            </a:r>
          </a:p>
        </p:txBody>
      </p:sp>
      <p:sp>
        <p:nvSpPr>
          <p:cNvPr id="4" name="Rectangle 3"/>
          <p:cNvSpPr/>
          <p:nvPr/>
        </p:nvSpPr>
        <p:spPr>
          <a:xfrm>
            <a:off x="612648" y="1572768"/>
            <a:ext cx="914400" cy="50292"/>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901952"/>
            <a:ext cx="4389120" cy="201168"/>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RISK</a:t>
            </a:r>
          </a:p>
        </p:txBody>
      </p:sp>
      <p:sp>
        <p:nvSpPr>
          <p:cNvPr id="6" name="TextBox 5"/>
          <p:cNvSpPr txBox="1"/>
          <p:nvPr/>
        </p:nvSpPr>
        <p:spPr>
          <a:xfrm>
            <a:off x="6400800" y="1901952"/>
            <a:ext cx="4389120" cy="201168"/>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NEXT</a:t>
            </a:r>
          </a:p>
        </p:txBody>
      </p:sp>
      <p:sp>
        <p:nvSpPr>
          <p:cNvPr id="7" name="Rounded Rectangle 6"/>
          <p:cNvSpPr/>
          <p:nvPr/>
        </p:nvSpPr>
        <p:spPr>
          <a:xfrm>
            <a:off x="749808" y="2423160"/>
            <a:ext cx="4754880" cy="438912"/>
          </a:xfrm>
          <a:prstGeom prst="roundRect">
            <a:avLst/>
          </a:prstGeom>
          <a:solidFill>
            <a:srgbClr val="F0F4F6"/>
          </a:solidFill>
          <a:ln w="12700">
            <a:solidFill>
              <a:srgbClr val="F0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505456"/>
            <a:ext cx="4251960" cy="228600"/>
          </a:xfrm>
          <a:prstGeom prst="rect">
            <a:avLst/>
          </a:prstGeom>
          <a:noFill/>
        </p:spPr>
        <p:txBody>
          <a:bodyPr wrap="square" lIns="0" rIns="0" tIns="0" bIns="0" anchor="t">
            <a:spAutoFit/>
          </a:bodyPr>
          <a:lstStyle/>
          <a:p>
            <a:pPr algn="l">
              <a:spcAft>
                <a:spcPts val="0"/>
              </a:spcAft>
              <a:defRPr sz="1800" b="1">
                <a:solidFill>
                  <a:srgbClr val="141F2B"/>
                </a:solidFill>
                <a:latin typeface="Aptos"/>
              </a:defRPr>
            </a:pPr>
            <a:r>
              <a:t>Keys held by server (demo)</a:t>
            </a:r>
          </a:p>
        </p:txBody>
      </p:sp>
      <p:sp>
        <p:nvSpPr>
          <p:cNvPr id="9" name="Rounded Rectangle 8"/>
          <p:cNvSpPr/>
          <p:nvPr/>
        </p:nvSpPr>
        <p:spPr>
          <a:xfrm>
            <a:off x="749808" y="3035808"/>
            <a:ext cx="4754880" cy="438912"/>
          </a:xfrm>
          <a:prstGeom prst="roundRect">
            <a:avLst/>
          </a:prstGeom>
          <a:solidFill>
            <a:srgbClr val="F0F4F6"/>
          </a:solidFill>
          <a:ln w="12700">
            <a:solidFill>
              <a:srgbClr val="F0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3118103"/>
            <a:ext cx="4251960" cy="228600"/>
          </a:xfrm>
          <a:prstGeom prst="rect">
            <a:avLst/>
          </a:prstGeom>
          <a:noFill/>
        </p:spPr>
        <p:txBody>
          <a:bodyPr wrap="square" lIns="0" rIns="0" tIns="0" bIns="0" anchor="t">
            <a:spAutoFit/>
          </a:bodyPr>
          <a:lstStyle/>
          <a:p>
            <a:pPr algn="l">
              <a:spcAft>
                <a:spcPts val="0"/>
              </a:spcAft>
              <a:defRPr sz="1800" b="1">
                <a:solidFill>
                  <a:srgbClr val="141F2B"/>
                </a:solidFill>
                <a:latin typeface="Aptos"/>
              </a:defRPr>
            </a:pPr>
            <a:r>
              <a:t>One validator</a:t>
            </a:r>
          </a:p>
        </p:txBody>
      </p:sp>
      <p:sp>
        <p:nvSpPr>
          <p:cNvPr id="11" name="Rounded Rectangle 10"/>
          <p:cNvSpPr/>
          <p:nvPr/>
        </p:nvSpPr>
        <p:spPr>
          <a:xfrm>
            <a:off x="749808" y="3648456"/>
            <a:ext cx="4754880" cy="438912"/>
          </a:xfrm>
          <a:prstGeom prst="roundRect">
            <a:avLst/>
          </a:prstGeom>
          <a:solidFill>
            <a:srgbClr val="F0F4F6"/>
          </a:solidFill>
          <a:ln w="12700">
            <a:solidFill>
              <a:srgbClr val="F0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3730752"/>
            <a:ext cx="4251960" cy="228600"/>
          </a:xfrm>
          <a:prstGeom prst="rect">
            <a:avLst/>
          </a:prstGeom>
          <a:noFill/>
        </p:spPr>
        <p:txBody>
          <a:bodyPr wrap="square" lIns="0" rIns="0" tIns="0" bIns="0" anchor="t">
            <a:spAutoFit/>
          </a:bodyPr>
          <a:lstStyle/>
          <a:p>
            <a:pPr algn="l">
              <a:spcAft>
                <a:spcPts val="0"/>
              </a:spcAft>
              <a:defRPr sz="1800" b="1">
                <a:solidFill>
                  <a:srgbClr val="141F2B"/>
                </a:solidFill>
                <a:latin typeface="Aptos"/>
              </a:defRPr>
            </a:pPr>
            <a:r>
              <a:t>Disputes off</a:t>
            </a:r>
          </a:p>
        </p:txBody>
      </p:sp>
      <p:sp>
        <p:nvSpPr>
          <p:cNvPr id="13" name="Rounded Rectangle 12"/>
          <p:cNvSpPr/>
          <p:nvPr/>
        </p:nvSpPr>
        <p:spPr>
          <a:xfrm>
            <a:off x="749808" y="4261104"/>
            <a:ext cx="4754880" cy="438912"/>
          </a:xfrm>
          <a:prstGeom prst="roundRect">
            <a:avLst/>
          </a:prstGeom>
          <a:solidFill>
            <a:srgbClr val="F0F4F6"/>
          </a:solidFill>
          <a:ln w="12700">
            <a:solidFill>
              <a:srgbClr val="F0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4343400"/>
            <a:ext cx="4251960" cy="228600"/>
          </a:xfrm>
          <a:prstGeom prst="rect">
            <a:avLst/>
          </a:prstGeom>
          <a:noFill/>
        </p:spPr>
        <p:txBody>
          <a:bodyPr wrap="square" lIns="0" rIns="0" tIns="0" bIns="0" anchor="t">
            <a:spAutoFit/>
          </a:bodyPr>
          <a:lstStyle/>
          <a:p>
            <a:pPr algn="l">
              <a:spcAft>
                <a:spcPts val="0"/>
              </a:spcAft>
              <a:defRPr sz="1800" b="1">
                <a:solidFill>
                  <a:srgbClr val="141F2B"/>
                </a:solidFill>
                <a:latin typeface="Aptos"/>
              </a:defRPr>
            </a:pPr>
            <a:r>
              <a:t>Unsigned desktop builds</a:t>
            </a:r>
          </a:p>
        </p:txBody>
      </p:sp>
      <p:sp>
        <p:nvSpPr>
          <p:cNvPr id="15" name="Rounded Rectangle 14"/>
          <p:cNvSpPr/>
          <p:nvPr/>
        </p:nvSpPr>
        <p:spPr>
          <a:xfrm>
            <a:off x="6236208" y="2423160"/>
            <a:ext cx="4892040" cy="530352"/>
          </a:xfrm>
          <a:prstGeom prst="roundRect">
            <a:avLst/>
          </a:prstGeom>
          <a:solidFill>
            <a:srgbClr val="FFFFFF"/>
          </a:solidFill>
          <a:ln w="12700">
            <a:solidFill>
              <a:srgbClr val="008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2542032"/>
            <a:ext cx="4297680" cy="256032"/>
          </a:xfrm>
          <a:prstGeom prst="rect">
            <a:avLst/>
          </a:prstGeom>
          <a:noFill/>
        </p:spPr>
        <p:txBody>
          <a:bodyPr wrap="square" lIns="0" rIns="0" tIns="0" bIns="0" anchor="t">
            <a:spAutoFit/>
          </a:bodyPr>
          <a:lstStyle/>
          <a:p>
            <a:pPr algn="l">
              <a:spcAft>
                <a:spcPts val="0"/>
              </a:spcAft>
              <a:defRPr sz="2000" b="1">
                <a:solidFill>
                  <a:srgbClr val="0C1E35"/>
                </a:solidFill>
                <a:latin typeface="Aptos"/>
              </a:defRPr>
            </a:pPr>
            <a:r>
              <a:t>Device keys</a:t>
            </a:r>
          </a:p>
        </p:txBody>
      </p:sp>
      <p:sp>
        <p:nvSpPr>
          <p:cNvPr id="17" name="Rounded Rectangle 16"/>
          <p:cNvSpPr/>
          <p:nvPr/>
        </p:nvSpPr>
        <p:spPr>
          <a:xfrm>
            <a:off x="6236208" y="3172968"/>
            <a:ext cx="4892040" cy="530352"/>
          </a:xfrm>
          <a:prstGeom prst="roundRect">
            <a:avLst/>
          </a:prstGeom>
          <a:solidFill>
            <a:srgbClr val="FFFFFF"/>
          </a:solidFill>
          <a:ln w="12700">
            <a:solidFill>
              <a:srgbClr val="008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291839"/>
            <a:ext cx="4297680" cy="256032"/>
          </a:xfrm>
          <a:prstGeom prst="rect">
            <a:avLst/>
          </a:prstGeom>
          <a:noFill/>
        </p:spPr>
        <p:txBody>
          <a:bodyPr wrap="square" lIns="0" rIns="0" tIns="0" bIns="0" anchor="t">
            <a:spAutoFit/>
          </a:bodyPr>
          <a:lstStyle/>
          <a:p>
            <a:pPr algn="l">
              <a:spcAft>
                <a:spcPts val="0"/>
              </a:spcAft>
              <a:defRPr sz="2000" b="1">
                <a:solidFill>
                  <a:srgbClr val="0C1E35"/>
                </a:solidFill>
                <a:latin typeface="Aptos"/>
              </a:defRPr>
            </a:pPr>
            <a:r>
              <a:t>Multi-validator</a:t>
            </a:r>
          </a:p>
        </p:txBody>
      </p:sp>
      <p:sp>
        <p:nvSpPr>
          <p:cNvPr id="19" name="Rounded Rectangle 18"/>
          <p:cNvSpPr/>
          <p:nvPr/>
        </p:nvSpPr>
        <p:spPr>
          <a:xfrm>
            <a:off x="6236208" y="3922776"/>
            <a:ext cx="4892040" cy="530352"/>
          </a:xfrm>
          <a:prstGeom prst="roundRect">
            <a:avLst/>
          </a:prstGeom>
          <a:solidFill>
            <a:srgbClr val="FFFFFF"/>
          </a:solidFill>
          <a:ln w="12700">
            <a:solidFill>
              <a:srgbClr val="008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041648"/>
            <a:ext cx="4297680" cy="256032"/>
          </a:xfrm>
          <a:prstGeom prst="rect">
            <a:avLst/>
          </a:prstGeom>
          <a:noFill/>
        </p:spPr>
        <p:txBody>
          <a:bodyPr wrap="square" lIns="0" rIns="0" tIns="0" bIns="0" anchor="t">
            <a:spAutoFit/>
          </a:bodyPr>
          <a:lstStyle/>
          <a:p>
            <a:pPr algn="l">
              <a:spcAft>
                <a:spcPts val="0"/>
              </a:spcAft>
              <a:defRPr sz="2000" b="1">
                <a:solidFill>
                  <a:srgbClr val="0C1E35"/>
                </a:solidFill>
                <a:latin typeface="Aptos"/>
              </a:defRPr>
            </a:pPr>
            <a:r>
              <a:t>Code signing</a:t>
            </a:r>
          </a:p>
        </p:txBody>
      </p:sp>
      <p:sp>
        <p:nvSpPr>
          <p:cNvPr id="21" name="TextBox 20"/>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22" name="TextBox 21"/>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76072"/>
            <a:ext cx="1828800" cy="228600"/>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KRAVII</a:t>
            </a:r>
          </a:p>
        </p:txBody>
      </p:sp>
      <p:sp>
        <p:nvSpPr>
          <p:cNvPr id="3" name="TextBox 2"/>
          <p:cNvSpPr txBox="1"/>
          <p:nvPr/>
        </p:nvSpPr>
        <p:spPr>
          <a:xfrm>
            <a:off x="658368" y="1170432"/>
            <a:ext cx="8961120" cy="1572768"/>
          </a:xfrm>
          <a:prstGeom prst="rect">
            <a:avLst/>
          </a:prstGeom>
          <a:noFill/>
        </p:spPr>
        <p:txBody>
          <a:bodyPr wrap="square" lIns="0" rIns="0" tIns="0" bIns="0" anchor="t">
            <a:spAutoFit/>
          </a:bodyPr>
          <a:lstStyle/>
          <a:p>
            <a:pPr algn="l">
              <a:spcAft>
                <a:spcPts val="0"/>
              </a:spcAft>
              <a:defRPr sz="3900" b="1">
                <a:solidFill>
                  <a:srgbClr val="0C1E35"/>
                </a:solidFill>
                <a:latin typeface="Aptos Display"/>
              </a:defRPr>
            </a:pPr>
            <a:r>
              <a:t>The agent proposes,</a:t>
            </a:r>
            <a:br/>
            <a:r>
              <a:t>the user approves,</a:t>
            </a:r>
            <a:br/>
            <a:r>
              <a:t>the contract enforces.</a:t>
            </a:r>
          </a:p>
        </p:txBody>
      </p:sp>
      <p:sp>
        <p:nvSpPr>
          <p:cNvPr id="4" name="Rectangle 3"/>
          <p:cNvSpPr/>
          <p:nvPr/>
        </p:nvSpPr>
        <p:spPr>
          <a:xfrm>
            <a:off x="658368" y="3246120"/>
            <a:ext cx="1143000" cy="54864"/>
          </a:xfrm>
          <a:prstGeom prst="rect">
            <a:avLst/>
          </a:prstGeom>
          <a:solidFill>
            <a:srgbClr val="00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977639"/>
            <a:ext cx="1371600" cy="164592"/>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APP</a:t>
            </a:r>
          </a:p>
        </p:txBody>
      </p:sp>
      <p:sp>
        <p:nvSpPr>
          <p:cNvPr id="6" name="TextBox 5"/>
          <p:cNvSpPr txBox="1"/>
          <p:nvPr/>
        </p:nvSpPr>
        <p:spPr>
          <a:xfrm>
            <a:off x="685800" y="4297680"/>
            <a:ext cx="3520440" cy="731520"/>
          </a:xfrm>
          <a:prstGeom prst="rect">
            <a:avLst/>
          </a:prstGeom>
          <a:noFill/>
        </p:spPr>
        <p:txBody>
          <a:bodyPr wrap="square" lIns="0" rIns="0" tIns="0" bIns="0" anchor="t">
            <a:spAutoFit/>
          </a:bodyPr>
          <a:lstStyle/>
          <a:p>
            <a:pPr algn="l">
              <a:spcAft>
                <a:spcPts val="0"/>
              </a:spcAft>
              <a:defRPr sz="1600" b="1">
                <a:solidFill>
                  <a:srgbClr val="0C1E35"/>
                </a:solidFill>
                <a:latin typeface="Aptos"/>
              </a:defRPr>
            </a:pPr>
            <a:r>
              <a:t>https://agentic-wallet-inky.vercel.app</a:t>
            </a:r>
          </a:p>
        </p:txBody>
      </p:sp>
      <p:sp>
        <p:nvSpPr>
          <p:cNvPr id="7" name="TextBox 6"/>
          <p:cNvSpPr txBox="1"/>
          <p:nvPr/>
        </p:nvSpPr>
        <p:spPr>
          <a:xfrm>
            <a:off x="4471416" y="3977639"/>
            <a:ext cx="1371600" cy="164592"/>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EXPLORER</a:t>
            </a:r>
          </a:p>
        </p:txBody>
      </p:sp>
      <p:sp>
        <p:nvSpPr>
          <p:cNvPr id="8" name="TextBox 7"/>
          <p:cNvSpPr txBox="1"/>
          <p:nvPr/>
        </p:nvSpPr>
        <p:spPr>
          <a:xfrm>
            <a:off x="4471416" y="4297680"/>
            <a:ext cx="3520440" cy="731520"/>
          </a:xfrm>
          <a:prstGeom prst="rect">
            <a:avLst/>
          </a:prstGeom>
          <a:noFill/>
        </p:spPr>
        <p:txBody>
          <a:bodyPr wrap="square" lIns="0" rIns="0" tIns="0" bIns="0" anchor="t">
            <a:spAutoFit/>
          </a:bodyPr>
          <a:lstStyle/>
          <a:p>
            <a:pPr algn="l">
              <a:spcAft>
                <a:spcPts val="0"/>
              </a:spcAft>
              <a:defRPr sz="1600" b="1">
                <a:solidFill>
                  <a:srgbClr val="0C1E35"/>
                </a:solidFill>
                <a:latin typeface="Aptos"/>
              </a:defRPr>
            </a:pPr>
            <a:r>
              <a:t>https://agentic-wallet-inky.vercel.app/explorer</a:t>
            </a:r>
          </a:p>
        </p:txBody>
      </p:sp>
      <p:sp>
        <p:nvSpPr>
          <p:cNvPr id="9" name="TextBox 8"/>
          <p:cNvSpPr txBox="1"/>
          <p:nvPr/>
        </p:nvSpPr>
        <p:spPr>
          <a:xfrm>
            <a:off x="8257031" y="3977639"/>
            <a:ext cx="1371600" cy="164592"/>
          </a:xfrm>
          <a:prstGeom prst="rect">
            <a:avLst/>
          </a:prstGeom>
          <a:noFill/>
        </p:spPr>
        <p:txBody>
          <a:bodyPr wrap="square" lIns="0" rIns="0" tIns="0" bIns="0" anchor="t">
            <a:spAutoFit/>
          </a:bodyPr>
          <a:lstStyle/>
          <a:p>
            <a:pPr algn="l">
              <a:spcAft>
                <a:spcPts val="0"/>
              </a:spcAft>
              <a:defRPr sz="1200" b="1">
                <a:solidFill>
                  <a:srgbClr val="008F97"/>
                </a:solidFill>
                <a:latin typeface="Aptos Display"/>
              </a:defRPr>
            </a:pPr>
            <a:r>
              <a:t>EVIDENCE</a:t>
            </a:r>
          </a:p>
        </p:txBody>
      </p:sp>
      <p:sp>
        <p:nvSpPr>
          <p:cNvPr id="10" name="TextBox 9"/>
          <p:cNvSpPr txBox="1"/>
          <p:nvPr/>
        </p:nvSpPr>
        <p:spPr>
          <a:xfrm>
            <a:off x="8257031" y="4297680"/>
            <a:ext cx="3520440" cy="731520"/>
          </a:xfrm>
          <a:prstGeom prst="rect">
            <a:avLst/>
          </a:prstGeom>
          <a:noFill/>
        </p:spPr>
        <p:txBody>
          <a:bodyPr wrap="square" lIns="0" rIns="0" tIns="0" bIns="0" anchor="t">
            <a:spAutoFit/>
          </a:bodyPr>
          <a:lstStyle/>
          <a:p>
            <a:pPr algn="l">
              <a:spcAft>
                <a:spcPts val="0"/>
              </a:spcAft>
              <a:defRPr sz="1600" b="1">
                <a:solidFill>
                  <a:srgbClr val="0C1E35"/>
                </a:solidFill>
                <a:latin typeface="Aptos"/>
              </a:defRPr>
            </a:pPr>
            <a:r>
              <a:t>EVIDENCE.md</a:t>
            </a:r>
          </a:p>
        </p:txBody>
      </p:sp>
      <p:sp>
        <p:nvSpPr>
          <p:cNvPr id="11" name="TextBox 10"/>
          <p:cNvSpPr txBox="1"/>
          <p:nvPr/>
        </p:nvSpPr>
        <p:spPr>
          <a:xfrm>
            <a:off x="685800" y="5349240"/>
            <a:ext cx="2743200" cy="365760"/>
          </a:xfrm>
          <a:prstGeom prst="rect">
            <a:avLst/>
          </a:prstGeom>
          <a:noFill/>
        </p:spPr>
        <p:txBody>
          <a:bodyPr wrap="square" lIns="0" rIns="0" tIns="0" bIns="0" anchor="t">
            <a:spAutoFit/>
          </a:bodyPr>
          <a:lstStyle/>
          <a:p>
            <a:pPr algn="l">
              <a:spcAft>
                <a:spcPts val="0"/>
              </a:spcAft>
              <a:defRPr sz="2300" b="1">
                <a:solidFill>
                  <a:srgbClr val="008F97"/>
                </a:solidFill>
                <a:latin typeface="Aptos Display"/>
              </a:defRPr>
            </a:pPr>
            <a:r>
              <a:t>Thank you.</a:t>
            </a:r>
          </a:p>
        </p:txBody>
      </p:sp>
      <p:sp>
        <p:nvSpPr>
          <p:cNvPr id="12" name="TextBox 11"/>
          <p:cNvSpPr txBox="1"/>
          <p:nvPr/>
        </p:nvSpPr>
        <p:spPr>
          <a:xfrm>
            <a:off x="612648" y="6510528"/>
            <a:ext cx="3657600" cy="146304"/>
          </a:xfrm>
          <a:prstGeom prst="rect">
            <a:avLst/>
          </a:prstGeom>
          <a:noFill/>
        </p:spPr>
        <p:txBody>
          <a:bodyPr wrap="square" lIns="0" rIns="0" tIns="0" bIns="0" anchor="t">
            <a:spAutoFit/>
          </a:bodyPr>
          <a:lstStyle/>
          <a:p>
            <a:pPr algn="l">
              <a:spcAft>
                <a:spcPts val="0"/>
              </a:spcAft>
              <a:defRPr sz="800" b="1">
                <a:solidFill>
                  <a:srgbClr val="536270"/>
                </a:solidFill>
                <a:latin typeface="Aptos"/>
              </a:defRPr>
            </a:pPr>
            <a:r>
              <a:t>KRAVII  /  FINTECHATHON 2026</a:t>
            </a:r>
          </a:p>
        </p:txBody>
      </p:sp>
      <p:sp>
        <p:nvSpPr>
          <p:cNvPr id="13" name="TextBox 12"/>
          <p:cNvSpPr txBox="1"/>
          <p:nvPr/>
        </p:nvSpPr>
        <p:spPr>
          <a:xfrm>
            <a:off x="11137392" y="6473952"/>
            <a:ext cx="438912" cy="182880"/>
          </a:xfrm>
          <a:prstGeom prst="rect">
            <a:avLst/>
          </a:prstGeom>
          <a:noFill/>
        </p:spPr>
        <p:txBody>
          <a:bodyPr wrap="square" lIns="0" rIns="0" tIns="0" bIns="0" anchor="t">
            <a:spAutoFit/>
          </a:bodyPr>
          <a:lstStyle/>
          <a:p>
            <a:pPr algn="r">
              <a:spcAft>
                <a:spcPts val="0"/>
              </a:spcAft>
              <a:defRPr sz="900" b="1">
                <a:solidFill>
                  <a:srgbClr val="536270"/>
                </a:solidFill>
                <a:latin typeface="Aptos"/>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